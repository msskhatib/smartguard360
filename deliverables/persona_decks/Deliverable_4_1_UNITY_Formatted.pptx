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10881360" y="640080"/>
            <a:ext cx="502920" cy="502920"/>
          </a:xfrm>
          <a:prstGeom prst="ellipse">
            <a:avLst/>
          </a:prstGeom>
          <a:ln w="25400">
            <a:solidFill>
              <a:srgbClr val="0E8FCF"/>
            </a:solidFill>
            <a:prstDash val="solid"/>
          </a:ln>
        </p:spPr>
      </p:sp>
      <p:sp>
        <p:nvSpPr>
          <p:cNvPr id="3" name="Shape 1"/>
          <p:cNvSpPr/>
          <p:nvPr/>
        </p:nvSpPr>
        <p:spPr>
          <a:xfrm>
            <a:off x="11430000" y="1051560"/>
            <a:ext cx="365760" cy="365760"/>
          </a:xfrm>
          <a:prstGeom prst="ellipse">
            <a:avLst/>
          </a:prstGeom>
          <a:ln w="25400">
            <a:solidFill>
              <a:srgbClr val="0E8FCF"/>
            </a:solidFill>
            <a:prstDash val="solid"/>
          </a:ln>
        </p:spPr>
      </p:sp>
      <p:sp>
        <p:nvSpPr>
          <p:cNvPr id="4" name="Shape 2"/>
          <p:cNvSpPr/>
          <p:nvPr/>
        </p:nvSpPr>
        <p:spPr>
          <a:xfrm>
            <a:off x="10515600" y="1234440"/>
            <a:ext cx="310896" cy="310896"/>
          </a:xfrm>
          <a:prstGeom prst="ellipse">
            <a:avLst/>
          </a:prstGeom>
          <a:ln w="25400">
            <a:solidFill>
              <a:srgbClr val="0E8FCF"/>
            </a:solidFill>
            <a:prstDash val="solid"/>
          </a:ln>
        </p:spPr>
      </p:sp>
      <p:sp>
        <p:nvSpPr>
          <p:cNvPr id="5" name="Shape 3"/>
          <p:cNvSpPr/>
          <p:nvPr/>
        </p:nvSpPr>
        <p:spPr>
          <a:xfrm>
            <a:off x="11475720" y="411480"/>
            <a:ext cx="274320" cy="274320"/>
          </a:xfrm>
          <a:prstGeom prst="ellipse">
            <a:avLst/>
          </a:prstGeom>
          <a:ln w="25400">
            <a:solidFill>
              <a:srgbClr val="0E8FCF"/>
            </a:solidFill>
            <a:prstDash val="solid"/>
          </a:ln>
        </p:spPr>
      </p:sp>
      <p:sp>
        <p:nvSpPr>
          <p:cNvPr id="6" name="Shape 4"/>
          <p:cNvSpPr/>
          <p:nvPr/>
        </p:nvSpPr>
        <p:spPr>
          <a:xfrm>
            <a:off x="10195560" y="868680"/>
            <a:ext cx="237744" cy="237744"/>
          </a:xfrm>
          <a:prstGeom prst="ellipse">
            <a:avLst/>
          </a:prstGeom>
          <a:ln w="25400">
            <a:solidFill>
              <a:srgbClr val="0E8FCF"/>
            </a:solidFill>
            <a:prstDash val="solid"/>
          </a:ln>
        </p:spPr>
      </p:sp>
      <p:sp>
        <p:nvSpPr>
          <p:cNvPr id="7" name="Shape 5"/>
          <p:cNvSpPr/>
          <p:nvPr/>
        </p:nvSpPr>
        <p:spPr>
          <a:xfrm>
            <a:off x="11109960" y="1554480"/>
            <a:ext cx="256032" cy="256032"/>
          </a:xfrm>
          <a:prstGeom prst="ellipse">
            <a:avLst/>
          </a:prstGeom>
          <a:ln w="25400">
            <a:solidFill>
              <a:srgbClr val="0E8FCF"/>
            </a:solidFill>
            <a:prstDash val="solid"/>
          </a:ln>
        </p:spPr>
      </p:sp>
      <p:sp>
        <p:nvSpPr>
          <p:cNvPr id="8" name="Shape 6"/>
          <p:cNvSpPr/>
          <p:nvPr/>
        </p:nvSpPr>
        <p:spPr>
          <a:xfrm>
            <a:off x="11750040" y="1417320"/>
            <a:ext cx="201168" cy="201168"/>
          </a:xfrm>
          <a:prstGeom prst="ellipse">
            <a:avLst/>
          </a:prstGeom>
          <a:ln w="25400">
            <a:solidFill>
              <a:srgbClr val="0E8FCF"/>
            </a:solidFill>
            <a:prstDash val="solid"/>
          </a:ln>
        </p:spPr>
      </p:sp>
      <p:sp>
        <p:nvSpPr>
          <p:cNvPr id="9" name="Text 7"/>
          <p:cNvSpPr/>
          <p:nvPr/>
        </p:nvSpPr>
        <p:spPr>
          <a:xfrm>
            <a:off x="566928" y="548640"/>
            <a:ext cx="8686800" cy="274320"/>
          </a:xfrm>
          <a:prstGeom prst="rect">
            <a:avLst/>
          </a:prstGeom>
          <a:noFill/>
          <a:ln/>
        </p:spPr>
        <p:txBody>
          <a:bodyPr wrap="square" lIns="0" tIns="0" rIns="0" bIns="0" rtlCol="0" anchor="ctr"/>
          <a:lstStyle/>
          <a:p>
            <a:pPr indent="0" marL="0">
              <a:buNone/>
            </a:pPr>
            <a:r>
              <a:rPr lang="en-US" sz="1200" b="1" spc="200" kern="0" dirty="0">
                <a:solidFill>
                  <a:srgbClr val="5EB6E4"/>
                </a:solidFill>
                <a:latin typeface="Calibri" pitchFamily="34" charset="0"/>
                <a:ea typeface="Calibri" pitchFamily="34" charset="-122"/>
                <a:cs typeface="Calibri" pitchFamily="34" charset="-120"/>
              </a:rPr>
              <a:t>ZMDT × IE BUSINESS SCHOOL   ·   MODULE 4 CAPSTONE</a:t>
            </a:r>
            <a:endParaRPr lang="en-US" sz="1200" dirty="0"/>
          </a:p>
        </p:txBody>
      </p:sp>
      <p:sp>
        <p:nvSpPr>
          <p:cNvPr id="10" name="Text 8"/>
          <p:cNvSpPr/>
          <p:nvPr/>
        </p:nvSpPr>
        <p:spPr>
          <a:xfrm>
            <a:off x="6309360" y="512064"/>
            <a:ext cx="3108960" cy="320040"/>
          </a:xfrm>
          <a:prstGeom prst="rect">
            <a:avLst/>
          </a:prstGeom>
          <a:noFill/>
          <a:ln/>
        </p:spPr>
        <p:txBody>
          <a:bodyPr wrap="square" lIns="0" tIns="0" rIns="0" bIns="0" rtlCol="0" anchor="ctr"/>
          <a:lstStyle/>
          <a:p>
            <a:pPr algn="r" indent="0" marL="0">
              <a:buNone/>
            </a:pPr>
            <a:r>
              <a:rPr lang="en-US" sz="1500" dirty="0">
                <a:solidFill>
                  <a:srgbClr val="5EB6E4"/>
                </a:solidFill>
                <a:latin typeface="Calibri" pitchFamily="34" charset="0"/>
                <a:ea typeface="Calibri" pitchFamily="34" charset="-122"/>
                <a:cs typeface="Calibri" pitchFamily="34" charset="-120"/>
              </a:rPr>
              <a:t>September 2026</a:t>
            </a:r>
            <a:endParaRPr lang="en-US" sz="1500" dirty="0"/>
          </a:p>
        </p:txBody>
      </p:sp>
      <p:sp>
        <p:nvSpPr>
          <p:cNvPr id="11" name="Text 9"/>
          <p:cNvSpPr/>
          <p:nvPr/>
        </p:nvSpPr>
        <p:spPr>
          <a:xfrm>
            <a:off x="566928" y="1371600"/>
            <a:ext cx="10789920" cy="137160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Persona Archetype</a:t>
            </a:r>
            <a:endParaRPr lang="en-US" sz="4600" dirty="0"/>
          </a:p>
        </p:txBody>
      </p:sp>
      <p:sp>
        <p:nvSpPr>
          <p:cNvPr id="12" name="Text 10"/>
          <p:cNvSpPr/>
          <p:nvPr/>
        </p:nvSpPr>
        <p:spPr>
          <a:xfrm>
            <a:off x="566928" y="2926080"/>
            <a:ext cx="10515600" cy="365760"/>
          </a:xfrm>
          <a:prstGeom prst="rect">
            <a:avLst/>
          </a:prstGeom>
          <a:noFill/>
          <a:ln/>
        </p:spPr>
        <p:txBody>
          <a:bodyPr wrap="square" lIns="0" tIns="0" rIns="0" bIns="0" rtlCol="0" anchor="ctr"/>
          <a:lstStyle/>
          <a:p>
            <a:pPr indent="0" marL="0">
              <a:buNone/>
            </a:pPr>
            <a:r>
              <a:rPr lang="en-US" sz="1600" dirty="0">
                <a:solidFill>
                  <a:srgbClr val="5EB6E4"/>
                </a:solidFill>
                <a:latin typeface="Calibri" pitchFamily="34" charset="0"/>
                <a:ea typeface="Calibri" pitchFamily="34" charset="-122"/>
                <a:cs typeface="Calibri" pitchFamily="34" charset="-120"/>
              </a:rPr>
              <a:t>Deliverable 4.1  ·  Capstone Sprint 4  ·  Zain BranchConnect</a:t>
            </a:r>
            <a:endParaRPr lang="en-US" sz="1600" dirty="0"/>
          </a:p>
        </p:txBody>
      </p:sp>
      <p:sp>
        <p:nvSpPr>
          <p:cNvPr id="13" name="Shape 11"/>
          <p:cNvSpPr/>
          <p:nvPr/>
        </p:nvSpPr>
        <p:spPr>
          <a:xfrm>
            <a:off x="566928" y="3611880"/>
            <a:ext cx="82296" cy="685800"/>
          </a:xfrm>
          <a:prstGeom prst="rect">
            <a:avLst/>
          </a:prstGeom>
          <a:solidFill>
            <a:srgbClr val="0E8FCF"/>
          </a:solidFill>
          <a:ln/>
        </p:spPr>
      </p:sp>
      <p:sp>
        <p:nvSpPr>
          <p:cNvPr id="14" name="Text 12"/>
          <p:cNvSpPr/>
          <p:nvPr/>
        </p:nvSpPr>
        <p:spPr>
          <a:xfrm>
            <a:off x="822960" y="3566160"/>
            <a:ext cx="8229600" cy="749808"/>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TEAM UNITY</a:t>
            </a:r>
            <a:endParaRPr lang="en-US" sz="4200" dirty="0"/>
          </a:p>
        </p:txBody>
      </p:sp>
      <p:sp>
        <p:nvSpPr>
          <p:cNvPr id="15" name="Text 13"/>
          <p:cNvSpPr/>
          <p:nvPr/>
        </p:nvSpPr>
        <p:spPr>
          <a:xfrm>
            <a:off x="566928" y="4572000"/>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Course: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[ZN-CAP-23F1M4S9] ZMDT 2023 Fast Track 1 Capstone Course</a:t>
            </a:r>
            <a:endParaRPr lang="en-US" sz="1200" dirty="0"/>
          </a:p>
        </p:txBody>
      </p:sp>
      <p:sp>
        <p:nvSpPr>
          <p:cNvPr id="16" name="Text 14"/>
          <p:cNvSpPr/>
          <p:nvPr/>
        </p:nvSpPr>
        <p:spPr>
          <a:xfrm>
            <a:off x="566928" y="4910328"/>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Professor: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Valentin Garcia Alcocer</a:t>
            </a:r>
            <a:endParaRPr lang="en-US" sz="1200" dirty="0"/>
          </a:p>
        </p:txBody>
      </p:sp>
      <p:sp>
        <p:nvSpPr>
          <p:cNvPr id="17" name="Text 15"/>
          <p:cNvSpPr/>
          <p:nvPr/>
        </p:nvSpPr>
        <p:spPr>
          <a:xfrm>
            <a:off x="566928" y="5248656"/>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Tutor: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Pablo Valcárcel Castro</a:t>
            </a:r>
            <a:endParaRPr lang="en-US" sz="1200" dirty="0"/>
          </a:p>
        </p:txBody>
      </p:sp>
      <p:sp>
        <p:nvSpPr>
          <p:cNvPr id="18" name="Text 16"/>
          <p:cNvSpPr/>
          <p:nvPr/>
        </p:nvSpPr>
        <p:spPr>
          <a:xfrm>
            <a:off x="566928" y="5586984"/>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Students: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Abdullah Alshehri · Azza Fadul AbdelMannan Elfaki · Lara Haddad · Mohammad Alkhatib · Mohammed Almaimani · Sahar Ehsan</a:t>
            </a:r>
            <a:endParaRPr lang="en-US" sz="1200" dirty="0"/>
          </a:p>
        </p:txBody>
      </p:sp>
      <p:sp>
        <p:nvSpPr>
          <p:cNvPr id="19" name="Text 17"/>
          <p:cNvSpPr/>
          <p:nvPr/>
        </p:nvSpPr>
        <p:spPr>
          <a:xfrm>
            <a:off x="566928" y="6053328"/>
            <a:ext cx="11064240" cy="640080"/>
          </a:xfrm>
          <a:prstGeom prst="rect">
            <a:avLst/>
          </a:prstGeom>
          <a:noFill/>
          <a:ln/>
        </p:spPr>
        <p:txBody>
          <a:bodyPr wrap="square" lIns="0" tIns="0" rIns="0" bIns="0" rtlCol="0" anchor="t"/>
          <a:lstStyle/>
          <a:p>
            <a:pPr indent="0" marL="0">
              <a:lnSpc>
                <a:spcPts val="1200"/>
              </a:lnSpc>
              <a:buNone/>
            </a:pPr>
            <a:r>
              <a:rPr lang="en-US" sz="950" i="1" dirty="0">
                <a:solidFill>
                  <a:srgbClr val="9AA3AF"/>
                </a:solidFill>
                <a:latin typeface="Calibri" pitchFamily="34" charset="0"/>
                <a:ea typeface="Calibri" pitchFamily="34" charset="-122"/>
                <a:cs typeface="Calibri" pitchFamily="34" charset="-120"/>
              </a:rPr>
              <a:t>AI Acknowledgment: Generative AI tools (Claude and ChatGPT) were used to support drafting, organization, formatting, and language refinement of this deliverable according to the course template. The opportunity identification, evaluation, strategic choices, internal assumptions, and final validation remain the team’s own work, and the team takes full responsibility for the accuracy, integrity, and originality of the content.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HOW WE CLUSTERED THE RESEARCH</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800"/>
              </a:lnSpc>
              <a:buNone/>
            </a:pPr>
            <a:r>
              <a:rPr lang="en-US" sz="2500" b="1" dirty="0">
                <a:solidFill>
                  <a:srgbClr val="1F3864"/>
                </a:solidFill>
                <a:latin typeface="Calibri" pitchFamily="34" charset="0"/>
                <a:ea typeface="Calibri" pitchFamily="34" charset="-122"/>
                <a:cs typeface="Calibri" pitchFamily="34" charset="-120"/>
              </a:rPr>
              <a:t>From 18 interviews to two archetypes</a:t>
            </a:r>
            <a:endParaRPr lang="en-US" sz="25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1389888"/>
            <a:ext cx="11057839"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We built the personas from repeated customer situations, not from demographics.</a:t>
            </a:r>
            <a:endParaRPr lang="en-US" sz="1150" dirty="0"/>
          </a:p>
        </p:txBody>
      </p:sp>
      <p:sp>
        <p:nvSpPr>
          <p:cNvPr id="6" name="Text 4"/>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4.1 Persona Archetype</a:t>
            </a:r>
            <a:endParaRPr lang="en-US" sz="900" dirty="0"/>
          </a:p>
        </p:txBody>
      </p:sp>
      <p:sp>
        <p:nvSpPr>
          <p:cNvPr id="7" name="Text 5"/>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5</a:t>
            </a:r>
            <a:endParaRPr lang="en-US" sz="900" dirty="0"/>
          </a:p>
        </p:txBody>
      </p:sp>
      <p:sp>
        <p:nvSpPr>
          <p:cNvPr id="8" name="Shape 6"/>
          <p:cNvSpPr/>
          <p:nvPr/>
        </p:nvSpPr>
        <p:spPr>
          <a:xfrm>
            <a:off x="566928" y="1783080"/>
            <a:ext cx="1962851" cy="1234440"/>
          </a:xfrm>
          <a:prstGeom prst="roundRect">
            <a:avLst>
              <a:gd name="adj" fmla="val 4444"/>
            </a:avLst>
          </a:prstGeom>
          <a:solidFill>
            <a:srgbClr val="EFF4FB"/>
          </a:solidFill>
          <a:ln w="12700">
            <a:solidFill>
              <a:srgbClr val="CBD8EA"/>
            </a:solidFill>
            <a:prstDash val="solid"/>
          </a:ln>
        </p:spPr>
      </p:sp>
      <p:sp>
        <p:nvSpPr>
          <p:cNvPr id="9" name="Text 7"/>
          <p:cNvSpPr/>
          <p:nvPr/>
        </p:nvSpPr>
        <p:spPr>
          <a:xfrm>
            <a:off x="676656" y="1892808"/>
            <a:ext cx="1743395" cy="274320"/>
          </a:xfrm>
          <a:prstGeom prst="rect">
            <a:avLst/>
          </a:prstGeom>
          <a:noFill/>
          <a:ln/>
        </p:spPr>
        <p:txBody>
          <a:bodyPr wrap="square" lIns="0" tIns="0" rIns="0" bIns="0" rtlCol="0" anchor="ctr"/>
          <a:lstStyle/>
          <a:p>
            <a:pPr algn="ctr" indent="0" marL="0">
              <a:buNone/>
            </a:pPr>
            <a:r>
              <a:rPr lang="en-US" sz="1250" b="1" dirty="0">
                <a:solidFill>
                  <a:srgbClr val="0E8FCF"/>
                </a:solidFill>
                <a:latin typeface="Calibri" pitchFamily="34" charset="0"/>
                <a:ea typeface="Calibri" pitchFamily="34" charset="-122"/>
                <a:cs typeface="Calibri" pitchFamily="34" charset="-120"/>
              </a:rPr>
              <a:t>Interview facts</a:t>
            </a:r>
            <a:endParaRPr lang="en-US" sz="1250" dirty="0"/>
          </a:p>
        </p:txBody>
      </p:sp>
      <p:sp>
        <p:nvSpPr>
          <p:cNvPr id="10" name="Text 8"/>
          <p:cNvSpPr/>
          <p:nvPr/>
        </p:nvSpPr>
        <p:spPr>
          <a:xfrm>
            <a:off x="676656" y="2221992"/>
            <a:ext cx="1743395" cy="731520"/>
          </a:xfrm>
          <a:prstGeom prst="rect">
            <a:avLst/>
          </a:prstGeom>
          <a:noFill/>
          <a:ln/>
        </p:spPr>
        <p:txBody>
          <a:bodyPr wrap="square" lIns="0" tIns="0" rIns="0" bIns="0" rtlCol="0" anchor="t"/>
          <a:lstStyle/>
          <a:p>
            <a:pPr algn="ctr" indent="0" marL="0">
              <a:lnSpc>
                <a:spcPts val="1300"/>
              </a:lnSpc>
              <a:buNone/>
            </a:pPr>
            <a:r>
              <a:rPr lang="en-US" sz="1050" dirty="0">
                <a:solidFill>
                  <a:srgbClr val="1F2937"/>
                </a:solidFill>
                <a:latin typeface="Calibri" pitchFamily="34" charset="0"/>
                <a:ea typeface="Calibri" pitchFamily="34" charset="-122"/>
                <a:cs typeface="Calibri" pitchFamily="34" charset="-120"/>
              </a:rPr>
              <a:t>18 records 5 markets</a:t>
            </a:r>
            <a:endParaRPr lang="en-US" sz="1050" dirty="0"/>
          </a:p>
        </p:txBody>
      </p:sp>
      <p:sp>
        <p:nvSpPr>
          <p:cNvPr id="11" name="Text 9"/>
          <p:cNvSpPr/>
          <p:nvPr/>
        </p:nvSpPr>
        <p:spPr>
          <a:xfrm>
            <a:off x="2575499" y="2144268"/>
            <a:ext cx="219456" cy="457200"/>
          </a:xfrm>
          <a:prstGeom prst="rect">
            <a:avLst/>
          </a:prstGeom>
          <a:noFill/>
          <a:ln/>
        </p:spPr>
        <p:txBody>
          <a:bodyPr wrap="square" lIns="0" tIns="0" rIns="0" bIns="0" rtlCol="0" anchor="ctr"/>
          <a:lstStyle/>
          <a:p>
            <a:pPr algn="ctr" indent="0" marL="0">
              <a:buNone/>
            </a:pPr>
            <a:r>
              <a:rPr lang="en-US" sz="2200" b="1" dirty="0">
                <a:solidFill>
                  <a:srgbClr val="9AA3AF"/>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2840675" y="1783080"/>
            <a:ext cx="1962851" cy="1234440"/>
          </a:xfrm>
          <a:prstGeom prst="roundRect">
            <a:avLst>
              <a:gd name="adj" fmla="val 4444"/>
            </a:avLst>
          </a:prstGeom>
          <a:solidFill>
            <a:srgbClr val="EFF4FB"/>
          </a:solidFill>
          <a:ln w="12700">
            <a:solidFill>
              <a:srgbClr val="CBD8EA"/>
            </a:solidFill>
            <a:prstDash val="solid"/>
          </a:ln>
        </p:spPr>
      </p:sp>
      <p:sp>
        <p:nvSpPr>
          <p:cNvPr id="13" name="Text 11"/>
          <p:cNvSpPr/>
          <p:nvPr/>
        </p:nvSpPr>
        <p:spPr>
          <a:xfrm>
            <a:off x="2950403" y="1892808"/>
            <a:ext cx="1743395" cy="274320"/>
          </a:xfrm>
          <a:prstGeom prst="rect">
            <a:avLst/>
          </a:prstGeom>
          <a:noFill/>
          <a:ln/>
        </p:spPr>
        <p:txBody>
          <a:bodyPr wrap="square" lIns="0" tIns="0" rIns="0" bIns="0" rtlCol="0" anchor="ctr"/>
          <a:lstStyle/>
          <a:p>
            <a:pPr algn="ctr" indent="0" marL="0">
              <a:buNone/>
            </a:pPr>
            <a:r>
              <a:rPr lang="en-US" sz="1250" b="1" dirty="0">
                <a:solidFill>
                  <a:srgbClr val="2E86AB"/>
                </a:solidFill>
                <a:latin typeface="Calibri" pitchFamily="34" charset="0"/>
                <a:ea typeface="Calibri" pitchFamily="34" charset="-122"/>
                <a:cs typeface="Calibri" pitchFamily="34" charset="-120"/>
              </a:rPr>
              <a:t>Recurring patterns</a:t>
            </a:r>
            <a:endParaRPr lang="en-US" sz="1250" dirty="0"/>
          </a:p>
        </p:txBody>
      </p:sp>
      <p:sp>
        <p:nvSpPr>
          <p:cNvPr id="14" name="Text 12"/>
          <p:cNvSpPr/>
          <p:nvPr/>
        </p:nvSpPr>
        <p:spPr>
          <a:xfrm>
            <a:off x="2950403" y="2221992"/>
            <a:ext cx="1743395" cy="731520"/>
          </a:xfrm>
          <a:prstGeom prst="rect">
            <a:avLst/>
          </a:prstGeom>
          <a:noFill/>
          <a:ln/>
        </p:spPr>
        <p:txBody>
          <a:bodyPr wrap="square" lIns="0" tIns="0" rIns="0" bIns="0" rtlCol="0" anchor="t"/>
          <a:lstStyle/>
          <a:p>
            <a:pPr algn="ctr" indent="0" marL="0">
              <a:lnSpc>
                <a:spcPts val="1300"/>
              </a:lnSpc>
              <a:buNone/>
            </a:pPr>
            <a:r>
              <a:rPr lang="en-US" sz="1050" dirty="0">
                <a:solidFill>
                  <a:srgbClr val="1F2937"/>
                </a:solidFill>
                <a:latin typeface="Calibri" pitchFamily="34" charset="0"/>
                <a:ea typeface="Calibri" pitchFamily="34" charset="-122"/>
                <a:cs typeface="Calibri" pitchFamily="34" charset="-120"/>
              </a:rPr>
              <a:t>task, fallback, effort, role</a:t>
            </a:r>
            <a:endParaRPr lang="en-US" sz="1050" dirty="0"/>
          </a:p>
        </p:txBody>
      </p:sp>
      <p:sp>
        <p:nvSpPr>
          <p:cNvPr id="15" name="Text 13"/>
          <p:cNvSpPr/>
          <p:nvPr/>
        </p:nvSpPr>
        <p:spPr>
          <a:xfrm>
            <a:off x="4849246" y="2144268"/>
            <a:ext cx="219456" cy="457200"/>
          </a:xfrm>
          <a:prstGeom prst="rect">
            <a:avLst/>
          </a:prstGeom>
          <a:noFill/>
          <a:ln/>
        </p:spPr>
        <p:txBody>
          <a:bodyPr wrap="square" lIns="0" tIns="0" rIns="0" bIns="0" rtlCol="0" anchor="ctr"/>
          <a:lstStyle/>
          <a:p>
            <a:pPr algn="ctr" indent="0" marL="0">
              <a:buNone/>
            </a:pPr>
            <a:r>
              <a:rPr lang="en-US" sz="2200" b="1" dirty="0">
                <a:solidFill>
                  <a:srgbClr val="9AA3AF"/>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114422" y="1783080"/>
            <a:ext cx="1962851" cy="1234440"/>
          </a:xfrm>
          <a:prstGeom prst="roundRect">
            <a:avLst>
              <a:gd name="adj" fmla="val 4444"/>
            </a:avLst>
          </a:prstGeom>
          <a:solidFill>
            <a:srgbClr val="EFF4FB"/>
          </a:solidFill>
          <a:ln w="12700">
            <a:solidFill>
              <a:srgbClr val="CBD8EA"/>
            </a:solidFill>
            <a:prstDash val="solid"/>
          </a:ln>
        </p:spPr>
      </p:sp>
      <p:sp>
        <p:nvSpPr>
          <p:cNvPr id="17" name="Text 15"/>
          <p:cNvSpPr/>
          <p:nvPr/>
        </p:nvSpPr>
        <p:spPr>
          <a:xfrm>
            <a:off x="5224150" y="1892808"/>
            <a:ext cx="1743395" cy="274320"/>
          </a:xfrm>
          <a:prstGeom prst="rect">
            <a:avLst/>
          </a:prstGeom>
          <a:noFill/>
          <a:ln/>
        </p:spPr>
        <p:txBody>
          <a:bodyPr wrap="square" lIns="0" tIns="0" rIns="0" bIns="0" rtlCol="0" anchor="ctr"/>
          <a:lstStyle/>
          <a:p>
            <a:pPr algn="ctr" indent="0" marL="0">
              <a:buNone/>
            </a:pPr>
            <a:r>
              <a:rPr lang="en-US" sz="1250" b="1" dirty="0">
                <a:solidFill>
                  <a:srgbClr val="2F5496"/>
                </a:solidFill>
                <a:latin typeface="Calibri" pitchFamily="34" charset="0"/>
                <a:ea typeface="Calibri" pitchFamily="34" charset="-122"/>
                <a:cs typeface="Calibri" pitchFamily="34" charset="-120"/>
              </a:rPr>
              <a:t>4 segments</a:t>
            </a:r>
            <a:endParaRPr lang="en-US" sz="1250" dirty="0"/>
          </a:p>
        </p:txBody>
      </p:sp>
      <p:sp>
        <p:nvSpPr>
          <p:cNvPr id="18" name="Text 16"/>
          <p:cNvSpPr/>
          <p:nvPr/>
        </p:nvSpPr>
        <p:spPr>
          <a:xfrm>
            <a:off x="5224150" y="2221992"/>
            <a:ext cx="1743395" cy="731520"/>
          </a:xfrm>
          <a:prstGeom prst="rect">
            <a:avLst/>
          </a:prstGeom>
          <a:noFill/>
          <a:ln/>
        </p:spPr>
        <p:txBody>
          <a:bodyPr wrap="square" lIns="0" tIns="0" rIns="0" bIns="0" rtlCol="0" anchor="t"/>
          <a:lstStyle/>
          <a:p>
            <a:pPr algn="ctr" indent="0" marL="0">
              <a:lnSpc>
                <a:spcPts val="1300"/>
              </a:lnSpc>
              <a:buNone/>
            </a:pPr>
            <a:r>
              <a:rPr lang="en-US" sz="1050" dirty="0">
                <a:solidFill>
                  <a:srgbClr val="1F2937"/>
                </a:solidFill>
                <a:latin typeface="Calibri" pitchFamily="34" charset="0"/>
                <a:ea typeface="Calibri" pitchFamily="34" charset="-122"/>
                <a:cs typeface="Calibri" pitchFamily="34" charset="-120"/>
              </a:rPr>
              <a:t>S1 primary S2 comparison</a:t>
            </a:r>
            <a:endParaRPr lang="en-US" sz="1050" dirty="0"/>
          </a:p>
        </p:txBody>
      </p:sp>
      <p:sp>
        <p:nvSpPr>
          <p:cNvPr id="19" name="Text 17"/>
          <p:cNvSpPr/>
          <p:nvPr/>
        </p:nvSpPr>
        <p:spPr>
          <a:xfrm>
            <a:off x="7122993" y="2144268"/>
            <a:ext cx="219456" cy="457200"/>
          </a:xfrm>
          <a:prstGeom prst="rect">
            <a:avLst/>
          </a:prstGeom>
          <a:noFill/>
          <a:ln/>
        </p:spPr>
        <p:txBody>
          <a:bodyPr wrap="square" lIns="0" tIns="0" rIns="0" bIns="0" rtlCol="0" anchor="ctr"/>
          <a:lstStyle/>
          <a:p>
            <a:pPr algn="ctr" indent="0" marL="0">
              <a:buNone/>
            </a:pPr>
            <a:r>
              <a:rPr lang="en-US" sz="2200" b="1" dirty="0">
                <a:solidFill>
                  <a:srgbClr val="9AA3AF"/>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7388169" y="1783080"/>
            <a:ext cx="1962851" cy="1234440"/>
          </a:xfrm>
          <a:prstGeom prst="roundRect">
            <a:avLst>
              <a:gd name="adj" fmla="val 4444"/>
            </a:avLst>
          </a:prstGeom>
          <a:solidFill>
            <a:srgbClr val="EAF6EE"/>
          </a:solidFill>
          <a:ln w="12700">
            <a:solidFill>
              <a:srgbClr val="2E8B57"/>
            </a:solidFill>
            <a:prstDash val="solid"/>
          </a:ln>
        </p:spPr>
      </p:sp>
      <p:sp>
        <p:nvSpPr>
          <p:cNvPr id="21" name="Text 19"/>
          <p:cNvSpPr/>
          <p:nvPr/>
        </p:nvSpPr>
        <p:spPr>
          <a:xfrm>
            <a:off x="7497897" y="1892808"/>
            <a:ext cx="1743395" cy="274320"/>
          </a:xfrm>
          <a:prstGeom prst="rect">
            <a:avLst/>
          </a:prstGeom>
          <a:noFill/>
          <a:ln/>
        </p:spPr>
        <p:txBody>
          <a:bodyPr wrap="square" lIns="0" tIns="0" rIns="0" bIns="0" rtlCol="0" anchor="ctr"/>
          <a:lstStyle/>
          <a:p>
            <a:pPr algn="ctr" indent="0" marL="0">
              <a:buNone/>
            </a:pPr>
            <a:r>
              <a:rPr lang="en-US" sz="1250" b="1" dirty="0">
                <a:solidFill>
                  <a:srgbClr val="2E8B57"/>
                </a:solidFill>
                <a:latin typeface="Calibri" pitchFamily="34" charset="0"/>
                <a:ea typeface="Calibri" pitchFamily="34" charset="-122"/>
                <a:cs typeface="Calibri" pitchFamily="34" charset="-120"/>
              </a:rPr>
              <a:t>Personas</a:t>
            </a:r>
            <a:endParaRPr lang="en-US" sz="1250" dirty="0"/>
          </a:p>
        </p:txBody>
      </p:sp>
      <p:sp>
        <p:nvSpPr>
          <p:cNvPr id="22" name="Text 20"/>
          <p:cNvSpPr/>
          <p:nvPr/>
        </p:nvSpPr>
        <p:spPr>
          <a:xfrm>
            <a:off x="7497897" y="2221992"/>
            <a:ext cx="1743395" cy="731520"/>
          </a:xfrm>
          <a:prstGeom prst="rect">
            <a:avLst/>
          </a:prstGeom>
          <a:noFill/>
          <a:ln/>
        </p:spPr>
        <p:txBody>
          <a:bodyPr wrap="square" lIns="0" tIns="0" rIns="0" bIns="0" rtlCol="0" anchor="t"/>
          <a:lstStyle/>
          <a:p>
            <a:pPr algn="ctr" indent="0" marL="0">
              <a:lnSpc>
                <a:spcPts val="1300"/>
              </a:lnSpc>
              <a:buNone/>
            </a:pPr>
            <a:r>
              <a:rPr lang="en-US" sz="1050" dirty="0">
                <a:solidFill>
                  <a:srgbClr val="1F2937"/>
                </a:solidFill>
                <a:latin typeface="Calibri" pitchFamily="34" charset="0"/>
                <a:ea typeface="Calibri" pitchFamily="34" charset="-122"/>
                <a:cs typeface="Calibri" pitchFamily="34" charset="-120"/>
              </a:rPr>
              <a:t>Majed primary Alya comparison</a:t>
            </a:r>
            <a:endParaRPr lang="en-US" sz="1050" dirty="0"/>
          </a:p>
        </p:txBody>
      </p:sp>
      <p:sp>
        <p:nvSpPr>
          <p:cNvPr id="23" name="Text 21"/>
          <p:cNvSpPr/>
          <p:nvPr/>
        </p:nvSpPr>
        <p:spPr>
          <a:xfrm>
            <a:off x="9396740" y="2144268"/>
            <a:ext cx="219456" cy="457200"/>
          </a:xfrm>
          <a:prstGeom prst="rect">
            <a:avLst/>
          </a:prstGeom>
          <a:noFill/>
          <a:ln/>
        </p:spPr>
        <p:txBody>
          <a:bodyPr wrap="square" lIns="0" tIns="0" rIns="0" bIns="0" rtlCol="0" anchor="ctr"/>
          <a:lstStyle/>
          <a:p>
            <a:pPr algn="ctr" indent="0" marL="0">
              <a:buNone/>
            </a:pPr>
            <a:r>
              <a:rPr lang="en-US" sz="2200" b="1" dirty="0">
                <a:solidFill>
                  <a:srgbClr val="9AA3AF"/>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9661916" y="1783080"/>
            <a:ext cx="1962851" cy="1234440"/>
          </a:xfrm>
          <a:prstGeom prst="roundRect">
            <a:avLst>
              <a:gd name="adj" fmla="val 4444"/>
            </a:avLst>
          </a:prstGeom>
          <a:solidFill>
            <a:srgbClr val="EFF4FB"/>
          </a:solidFill>
          <a:ln w="12700">
            <a:solidFill>
              <a:srgbClr val="CBD8EA"/>
            </a:solidFill>
            <a:prstDash val="solid"/>
          </a:ln>
        </p:spPr>
      </p:sp>
      <p:sp>
        <p:nvSpPr>
          <p:cNvPr id="25" name="Text 23"/>
          <p:cNvSpPr/>
          <p:nvPr/>
        </p:nvSpPr>
        <p:spPr>
          <a:xfrm>
            <a:off x="9771644" y="1892808"/>
            <a:ext cx="1743395" cy="274320"/>
          </a:xfrm>
          <a:prstGeom prst="rect">
            <a:avLst/>
          </a:prstGeom>
          <a:noFill/>
          <a:ln/>
        </p:spPr>
        <p:txBody>
          <a:bodyPr wrap="square" lIns="0" tIns="0" rIns="0" bIns="0" rtlCol="0" anchor="ctr"/>
          <a:lstStyle/>
          <a:p>
            <a:pPr algn="ctr" indent="0" marL="0">
              <a:buNone/>
            </a:pPr>
            <a:r>
              <a:rPr lang="en-US" sz="1250" b="1" dirty="0">
                <a:solidFill>
                  <a:srgbClr val="8E5BA6"/>
                </a:solidFill>
                <a:latin typeface="Calibri" pitchFamily="34" charset="0"/>
                <a:ea typeface="Calibri" pitchFamily="34" charset="-122"/>
                <a:cs typeface="Calibri" pitchFamily="34" charset="-120"/>
              </a:rPr>
              <a:t>VPC input</a:t>
            </a:r>
            <a:endParaRPr lang="en-US" sz="1250" dirty="0"/>
          </a:p>
        </p:txBody>
      </p:sp>
      <p:sp>
        <p:nvSpPr>
          <p:cNvPr id="26" name="Text 24"/>
          <p:cNvSpPr/>
          <p:nvPr/>
        </p:nvSpPr>
        <p:spPr>
          <a:xfrm>
            <a:off x="9771644" y="2221992"/>
            <a:ext cx="1743395" cy="731520"/>
          </a:xfrm>
          <a:prstGeom prst="rect">
            <a:avLst/>
          </a:prstGeom>
          <a:noFill/>
          <a:ln/>
        </p:spPr>
        <p:txBody>
          <a:bodyPr wrap="square" lIns="0" tIns="0" rIns="0" bIns="0" rtlCol="0" anchor="t"/>
          <a:lstStyle/>
          <a:p>
            <a:pPr algn="ctr" indent="0" marL="0">
              <a:lnSpc>
                <a:spcPts val="1300"/>
              </a:lnSpc>
              <a:buNone/>
            </a:pPr>
            <a:r>
              <a:rPr lang="en-US" sz="1050" dirty="0">
                <a:solidFill>
                  <a:srgbClr val="1F2937"/>
                </a:solidFill>
                <a:latin typeface="Calibri" pitchFamily="34" charset="0"/>
                <a:ea typeface="Calibri" pitchFamily="34" charset="-122"/>
                <a:cs typeface="Calibri" pitchFamily="34" charset="-120"/>
              </a:rPr>
              <a:t>jobs, pains, gains</a:t>
            </a:r>
            <a:endParaRPr lang="en-US" sz="1050" dirty="0"/>
          </a:p>
        </p:txBody>
      </p:sp>
      <p:sp>
        <p:nvSpPr>
          <p:cNvPr id="27" name="Text 25"/>
          <p:cNvSpPr/>
          <p:nvPr/>
        </p:nvSpPr>
        <p:spPr>
          <a:xfrm>
            <a:off x="566928" y="3246120"/>
            <a:ext cx="11057839" cy="27432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What repeated across the interviews</a:t>
            </a:r>
            <a:endParaRPr lang="en-US" sz="1300" dirty="0"/>
          </a:p>
        </p:txBody>
      </p:sp>
      <p:sp>
        <p:nvSpPr>
          <p:cNvPr id="28" name="Shape 26"/>
          <p:cNvSpPr/>
          <p:nvPr/>
        </p:nvSpPr>
        <p:spPr>
          <a:xfrm>
            <a:off x="566928" y="3611880"/>
            <a:ext cx="2531288" cy="1554480"/>
          </a:xfrm>
          <a:prstGeom prst="roundRect">
            <a:avLst>
              <a:gd name="adj" fmla="val 3529"/>
            </a:avLst>
          </a:prstGeom>
          <a:solidFill>
            <a:srgbClr val="FFFFFF"/>
          </a:solidFill>
          <a:ln w="12700">
            <a:solidFill>
              <a:srgbClr val="CBD8EA"/>
            </a:solidFill>
            <a:prstDash val="solid"/>
          </a:ln>
        </p:spPr>
      </p:sp>
      <p:sp>
        <p:nvSpPr>
          <p:cNvPr id="29" name="Shape 27"/>
          <p:cNvSpPr/>
          <p:nvPr/>
        </p:nvSpPr>
        <p:spPr>
          <a:xfrm>
            <a:off x="566928" y="3611880"/>
            <a:ext cx="64008" cy="1554480"/>
          </a:xfrm>
          <a:prstGeom prst="rect">
            <a:avLst/>
          </a:prstGeom>
          <a:solidFill>
            <a:srgbClr val="0E8FCF"/>
          </a:solidFill>
          <a:ln/>
        </p:spPr>
      </p:sp>
      <p:sp>
        <p:nvSpPr>
          <p:cNvPr id="30" name="Text 28"/>
          <p:cNvSpPr/>
          <p:nvPr/>
        </p:nvSpPr>
        <p:spPr>
          <a:xfrm>
            <a:off x="768096" y="3703320"/>
            <a:ext cx="2202104"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Task-defined readiness</a:t>
            </a:r>
            <a:endParaRPr lang="en-US" sz="1150" dirty="0"/>
          </a:p>
        </p:txBody>
      </p:sp>
      <p:sp>
        <p:nvSpPr>
          <p:cNvPr id="31" name="Text 29"/>
          <p:cNvSpPr/>
          <p:nvPr/>
        </p:nvSpPr>
        <p:spPr>
          <a:xfrm>
            <a:off x="804672" y="4014216"/>
            <a:ext cx="2128952" cy="1060704"/>
          </a:xfrm>
          <a:prstGeom prst="rect">
            <a:avLst/>
          </a:prstGeom>
          <a:noFill/>
          <a:ln/>
        </p:spPr>
        <p:txBody>
          <a:bodyPr wrap="square" lIns="0" tIns="0" rIns="0" bIns="0" rtlCol="0" anchor="t"/>
          <a:lstStyle/>
          <a:p>
            <a:pPr indent="0" marL="0">
              <a:lnSpc>
                <a:spcPts val="1350"/>
              </a:lnSpc>
              <a:spcAft>
                <a:spcPts val="300"/>
              </a:spcAft>
              <a:buNone/>
            </a:pPr>
            <a:r>
              <a:rPr lang="en-US" sz="1050" dirty="0">
                <a:solidFill>
                  <a:srgbClr val="1F2937"/>
                </a:solidFill>
                <a:latin typeface="Calibri" pitchFamily="34" charset="0"/>
                <a:ea typeface="Calibri" pitchFamily="34" charset="-122"/>
                <a:cs typeface="Calibri" pitchFamily="34" charset="-120"/>
              </a:rPr>
              <a:t>10/18: adoption starts when the customer completes the task that made the line useful.</a:t>
            </a:r>
            <a:endParaRPr lang="en-US" sz="1050" dirty="0"/>
          </a:p>
        </p:txBody>
      </p:sp>
      <p:sp>
        <p:nvSpPr>
          <p:cNvPr id="32" name="Shape 30"/>
          <p:cNvSpPr/>
          <p:nvPr/>
        </p:nvSpPr>
        <p:spPr>
          <a:xfrm>
            <a:off x="3409112" y="3611880"/>
            <a:ext cx="2531288" cy="1554480"/>
          </a:xfrm>
          <a:prstGeom prst="roundRect">
            <a:avLst>
              <a:gd name="adj" fmla="val 3529"/>
            </a:avLst>
          </a:prstGeom>
          <a:solidFill>
            <a:srgbClr val="FFFFFF"/>
          </a:solidFill>
          <a:ln w="12700">
            <a:solidFill>
              <a:srgbClr val="CBD8EA"/>
            </a:solidFill>
            <a:prstDash val="solid"/>
          </a:ln>
        </p:spPr>
      </p:sp>
      <p:sp>
        <p:nvSpPr>
          <p:cNvPr id="33" name="Shape 31"/>
          <p:cNvSpPr/>
          <p:nvPr/>
        </p:nvSpPr>
        <p:spPr>
          <a:xfrm>
            <a:off x="3409112" y="3611880"/>
            <a:ext cx="64008" cy="1554480"/>
          </a:xfrm>
          <a:prstGeom prst="rect">
            <a:avLst/>
          </a:prstGeom>
          <a:solidFill>
            <a:srgbClr val="2E86AB"/>
          </a:solidFill>
          <a:ln/>
        </p:spPr>
      </p:sp>
      <p:sp>
        <p:nvSpPr>
          <p:cNvPr id="34" name="Text 32"/>
          <p:cNvSpPr/>
          <p:nvPr/>
        </p:nvSpPr>
        <p:spPr>
          <a:xfrm>
            <a:off x="3610280" y="3703320"/>
            <a:ext cx="2202104"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Fallback makes silence rational</a:t>
            </a:r>
            <a:endParaRPr lang="en-US" sz="1150" dirty="0"/>
          </a:p>
        </p:txBody>
      </p:sp>
      <p:sp>
        <p:nvSpPr>
          <p:cNvPr id="35" name="Text 33"/>
          <p:cNvSpPr/>
          <p:nvPr/>
        </p:nvSpPr>
        <p:spPr>
          <a:xfrm>
            <a:off x="3646856" y="4014216"/>
            <a:ext cx="2128952" cy="1060704"/>
          </a:xfrm>
          <a:prstGeom prst="rect">
            <a:avLst/>
          </a:prstGeom>
          <a:noFill/>
          <a:ln/>
        </p:spPr>
        <p:txBody>
          <a:bodyPr wrap="square" lIns="0" tIns="0" rIns="0" bIns="0" rtlCol="0" anchor="t"/>
          <a:lstStyle/>
          <a:p>
            <a:pPr indent="0" marL="0">
              <a:lnSpc>
                <a:spcPts val="1350"/>
              </a:lnSpc>
              <a:spcAft>
                <a:spcPts val="300"/>
              </a:spcAft>
              <a:buNone/>
            </a:pPr>
            <a:r>
              <a:rPr lang="en-US" sz="1050" dirty="0">
                <a:solidFill>
                  <a:srgbClr val="1F2937"/>
                </a:solidFill>
                <a:latin typeface="Calibri" pitchFamily="34" charset="0"/>
                <a:ea typeface="Calibri" pitchFamily="34" charset="-122"/>
                <a:cs typeface="Calibri" pitchFamily="34" charset="-120"/>
              </a:rPr>
              <a:t>11/18: old SIM, Wi-Fi or informal help can be easier than raising a complaint.</a:t>
            </a:r>
            <a:endParaRPr lang="en-US" sz="1050" dirty="0"/>
          </a:p>
        </p:txBody>
      </p:sp>
      <p:sp>
        <p:nvSpPr>
          <p:cNvPr id="36" name="Shape 34"/>
          <p:cNvSpPr/>
          <p:nvPr/>
        </p:nvSpPr>
        <p:spPr>
          <a:xfrm>
            <a:off x="6251296" y="3611880"/>
            <a:ext cx="2531288" cy="1554480"/>
          </a:xfrm>
          <a:prstGeom prst="roundRect">
            <a:avLst>
              <a:gd name="adj" fmla="val 3529"/>
            </a:avLst>
          </a:prstGeom>
          <a:solidFill>
            <a:srgbClr val="FFFFFF"/>
          </a:solidFill>
          <a:ln w="12700">
            <a:solidFill>
              <a:srgbClr val="CBD8EA"/>
            </a:solidFill>
            <a:prstDash val="solid"/>
          </a:ln>
        </p:spPr>
      </p:sp>
      <p:sp>
        <p:nvSpPr>
          <p:cNvPr id="37" name="Shape 35"/>
          <p:cNvSpPr/>
          <p:nvPr/>
        </p:nvSpPr>
        <p:spPr>
          <a:xfrm>
            <a:off x="6251296" y="3611880"/>
            <a:ext cx="64008" cy="1554480"/>
          </a:xfrm>
          <a:prstGeom prst="rect">
            <a:avLst/>
          </a:prstGeom>
          <a:solidFill>
            <a:srgbClr val="C8881A"/>
          </a:solidFill>
          <a:ln/>
        </p:spPr>
      </p:sp>
      <p:sp>
        <p:nvSpPr>
          <p:cNvPr id="38" name="Text 36"/>
          <p:cNvSpPr/>
          <p:nvPr/>
        </p:nvSpPr>
        <p:spPr>
          <a:xfrm>
            <a:off x="6452464" y="3703320"/>
            <a:ext cx="2202104"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Support effort competes with urgency</a:t>
            </a:r>
            <a:endParaRPr lang="en-US" sz="1150" dirty="0"/>
          </a:p>
        </p:txBody>
      </p:sp>
      <p:sp>
        <p:nvSpPr>
          <p:cNvPr id="39" name="Text 37"/>
          <p:cNvSpPr/>
          <p:nvPr/>
        </p:nvSpPr>
        <p:spPr>
          <a:xfrm>
            <a:off x="6489040" y="4014216"/>
            <a:ext cx="2128952" cy="1060704"/>
          </a:xfrm>
          <a:prstGeom prst="rect">
            <a:avLst/>
          </a:prstGeom>
          <a:noFill/>
          <a:ln/>
        </p:spPr>
        <p:txBody>
          <a:bodyPr wrap="square" lIns="0" tIns="0" rIns="0" bIns="0" rtlCol="0" anchor="t"/>
          <a:lstStyle/>
          <a:p>
            <a:pPr indent="0" marL="0">
              <a:lnSpc>
                <a:spcPts val="1350"/>
              </a:lnSpc>
              <a:spcAft>
                <a:spcPts val="300"/>
              </a:spcAft>
              <a:buNone/>
            </a:pPr>
            <a:r>
              <a:rPr lang="en-US" sz="1050" dirty="0">
                <a:solidFill>
                  <a:srgbClr val="1F2937"/>
                </a:solidFill>
                <a:latin typeface="Calibri" pitchFamily="34" charset="0"/>
                <a:ea typeface="Calibri" pitchFamily="34" charset="-122"/>
                <a:cs typeface="Calibri" pitchFamily="34" charset="-120"/>
              </a:rPr>
              <a:t>7/18: help is useful only when it feels easier than ignoring the issue.</a:t>
            </a:r>
            <a:endParaRPr lang="en-US" sz="1050" dirty="0"/>
          </a:p>
        </p:txBody>
      </p:sp>
      <p:sp>
        <p:nvSpPr>
          <p:cNvPr id="40" name="Shape 38"/>
          <p:cNvSpPr/>
          <p:nvPr/>
        </p:nvSpPr>
        <p:spPr>
          <a:xfrm>
            <a:off x="9093479" y="3611880"/>
            <a:ext cx="2531288" cy="1554480"/>
          </a:xfrm>
          <a:prstGeom prst="roundRect">
            <a:avLst>
              <a:gd name="adj" fmla="val 3529"/>
            </a:avLst>
          </a:prstGeom>
          <a:solidFill>
            <a:srgbClr val="FFFFFF"/>
          </a:solidFill>
          <a:ln w="12700">
            <a:solidFill>
              <a:srgbClr val="CBD8EA"/>
            </a:solidFill>
            <a:prstDash val="solid"/>
          </a:ln>
        </p:spPr>
      </p:sp>
      <p:sp>
        <p:nvSpPr>
          <p:cNvPr id="41" name="Shape 39"/>
          <p:cNvSpPr/>
          <p:nvPr/>
        </p:nvSpPr>
        <p:spPr>
          <a:xfrm>
            <a:off x="9093479" y="3611880"/>
            <a:ext cx="64008" cy="1554480"/>
          </a:xfrm>
          <a:prstGeom prst="rect">
            <a:avLst/>
          </a:prstGeom>
          <a:solidFill>
            <a:srgbClr val="8E5BA6"/>
          </a:solidFill>
          <a:ln/>
        </p:spPr>
      </p:sp>
      <p:sp>
        <p:nvSpPr>
          <p:cNvPr id="42" name="Text 40"/>
          <p:cNvSpPr/>
          <p:nvPr/>
        </p:nvSpPr>
        <p:spPr>
          <a:xfrm>
            <a:off x="9294647" y="3703320"/>
            <a:ext cx="2202104"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Decision role and confidence</a:t>
            </a:r>
            <a:endParaRPr lang="en-US" sz="1150" dirty="0"/>
          </a:p>
        </p:txBody>
      </p:sp>
      <p:sp>
        <p:nvSpPr>
          <p:cNvPr id="43" name="Text 41"/>
          <p:cNvSpPr/>
          <p:nvPr/>
        </p:nvSpPr>
        <p:spPr>
          <a:xfrm>
            <a:off x="9331223" y="4014216"/>
            <a:ext cx="2128952" cy="1060704"/>
          </a:xfrm>
          <a:prstGeom prst="rect">
            <a:avLst/>
          </a:prstGeom>
          <a:noFill/>
          <a:ln/>
        </p:spPr>
        <p:txBody>
          <a:bodyPr wrap="square" lIns="0" tIns="0" rIns="0" bIns="0" rtlCol="0" anchor="t"/>
          <a:lstStyle/>
          <a:p>
            <a:pPr indent="0" marL="0">
              <a:lnSpc>
                <a:spcPts val="1350"/>
              </a:lnSpc>
              <a:spcAft>
                <a:spcPts val="300"/>
              </a:spcAft>
              <a:buNone/>
            </a:pPr>
            <a:r>
              <a:rPr lang="en-US" sz="1050" dirty="0">
                <a:solidFill>
                  <a:srgbClr val="1F2937"/>
                </a:solidFill>
                <a:latin typeface="Calibri" pitchFamily="34" charset="0"/>
                <a:ea typeface="Calibri" pitchFamily="34" charset="-122"/>
                <a:cs typeface="Calibri" pitchFamily="34" charset="-120"/>
              </a:rPr>
              <a:t>5/18: user, buyer, payer, proxy or gatekeeper may not be the same person.</a:t>
            </a:r>
            <a:endParaRPr lang="en-US" sz="1050" dirty="0"/>
          </a:p>
        </p:txBody>
      </p:sp>
      <p:sp>
        <p:nvSpPr>
          <p:cNvPr id="44" name="Shape 42"/>
          <p:cNvSpPr/>
          <p:nvPr/>
        </p:nvSpPr>
        <p:spPr>
          <a:xfrm>
            <a:off x="566928" y="5349240"/>
            <a:ext cx="5373472" cy="868680"/>
          </a:xfrm>
          <a:prstGeom prst="roundRect">
            <a:avLst>
              <a:gd name="adj" fmla="val 6316"/>
            </a:avLst>
          </a:prstGeom>
          <a:solidFill>
            <a:srgbClr val="EFF4FB"/>
          </a:solidFill>
          <a:ln w="12700">
            <a:solidFill>
              <a:srgbClr val="6B7280"/>
            </a:solidFill>
            <a:prstDash val="solid"/>
          </a:ln>
        </p:spPr>
      </p:sp>
      <p:sp>
        <p:nvSpPr>
          <p:cNvPr id="45" name="Text 43"/>
          <p:cNvSpPr/>
          <p:nvPr/>
        </p:nvSpPr>
        <p:spPr>
          <a:xfrm>
            <a:off x="768096" y="5404104"/>
            <a:ext cx="5007712" cy="758952"/>
          </a:xfrm>
          <a:prstGeom prst="rect">
            <a:avLst/>
          </a:prstGeom>
          <a:noFill/>
          <a:ln/>
        </p:spPr>
        <p:txBody>
          <a:bodyPr wrap="square" lIns="0" tIns="0" rIns="0" bIns="0" rtlCol="0" anchor="ctr"/>
          <a:lstStyle/>
          <a:p>
            <a:pPr indent="0" marL="0">
              <a:lnSpc>
                <a:spcPts val="1400"/>
              </a:lnSpc>
              <a:buNone/>
            </a:pPr>
            <a:r>
              <a:rPr lang="en-US" sz="1150" b="1" dirty="0">
                <a:solidFill>
                  <a:srgbClr val="6B7280"/>
                </a:solidFill>
                <a:latin typeface="Calibri" pitchFamily="34" charset="0"/>
                <a:ea typeface="Calibri" pitchFamily="34" charset="-122"/>
                <a:cs typeface="Calibri" pitchFamily="34" charset="-120"/>
              </a:rPr>
              <a:t>Evidence note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Counts are qualitative traceability only. They help us see pattern strength in this sample. They are not market-prevalence estimates.</a:t>
            </a:r>
            <a:endParaRPr lang="en-US" sz="1150" dirty="0"/>
          </a:p>
        </p:txBody>
      </p:sp>
      <p:sp>
        <p:nvSpPr>
          <p:cNvPr id="46" name="Shape 44"/>
          <p:cNvSpPr/>
          <p:nvPr/>
        </p:nvSpPr>
        <p:spPr>
          <a:xfrm>
            <a:off x="6251296" y="5349240"/>
            <a:ext cx="5373472" cy="868680"/>
          </a:xfrm>
          <a:prstGeom prst="roundRect">
            <a:avLst>
              <a:gd name="adj" fmla="val 6316"/>
            </a:avLst>
          </a:prstGeom>
          <a:solidFill>
            <a:srgbClr val="EAF6EE"/>
          </a:solidFill>
          <a:ln w="12700">
            <a:solidFill>
              <a:srgbClr val="2E8B57"/>
            </a:solidFill>
            <a:prstDash val="solid"/>
          </a:ln>
        </p:spPr>
      </p:sp>
      <p:sp>
        <p:nvSpPr>
          <p:cNvPr id="47" name="Text 45"/>
          <p:cNvSpPr/>
          <p:nvPr/>
        </p:nvSpPr>
        <p:spPr>
          <a:xfrm>
            <a:off x="6452464" y="5404104"/>
            <a:ext cx="5007712" cy="758952"/>
          </a:xfrm>
          <a:prstGeom prst="rect">
            <a:avLst/>
          </a:prstGeom>
          <a:noFill/>
          <a:ln/>
        </p:spPr>
        <p:txBody>
          <a:bodyPr wrap="square" lIns="0" tIns="0" rIns="0" bIns="0" rtlCol="0" anchor="ctr"/>
          <a:lstStyle/>
          <a:p>
            <a:pPr indent="0" marL="0">
              <a:lnSpc>
                <a:spcPts val="1400"/>
              </a:lnSpc>
              <a:buNone/>
            </a:pPr>
            <a:r>
              <a:rPr lang="en-US" sz="1150" b="1" dirty="0">
                <a:solidFill>
                  <a:srgbClr val="2E8B57"/>
                </a:solidFill>
                <a:latin typeface="Calibri" pitchFamily="34" charset="0"/>
                <a:ea typeface="Calibri" pitchFamily="34" charset="-122"/>
                <a:cs typeface="Calibri" pitchFamily="34" charset="-120"/>
              </a:rPr>
              <a:t>Team decision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Majed remains primary because S1 had the strongest SPA priority. Alya remains as a comparison persona because S2 revealed a different post-handover failure mechanism.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PRIMARY PERSONA · SPRINT 4 ANCHOR</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700"/>
              </a:lnSpc>
              <a:buNone/>
            </a:pPr>
            <a:r>
              <a:rPr lang="en-US" sz="2400" b="1" dirty="0">
                <a:solidFill>
                  <a:srgbClr val="1F3864"/>
                </a:solidFill>
                <a:latin typeface="Calibri" pitchFamily="34" charset="0"/>
                <a:ea typeface="Calibri" pitchFamily="34" charset="-122"/>
                <a:cs typeface="Calibri" pitchFamily="34" charset="-120"/>
              </a:rPr>
              <a:t>Majed — The Proof-Seeking Self-Starter</a:t>
            </a:r>
            <a:endParaRPr lang="en-US" sz="24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1389888"/>
            <a:ext cx="11057839"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S1 digital starters with unresolved first-value uncertainty    ·    Synthesized archetype based on S1 interview patterns. Not an individual participant.</a:t>
            </a:r>
            <a:endParaRPr lang="en-US" sz="1150" dirty="0"/>
          </a:p>
        </p:txBody>
      </p:sp>
      <p:sp>
        <p:nvSpPr>
          <p:cNvPr id="6" name="Text 4"/>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4.1 Persona Archetype</a:t>
            </a:r>
            <a:endParaRPr lang="en-US" sz="900" dirty="0"/>
          </a:p>
        </p:txBody>
      </p:sp>
      <p:sp>
        <p:nvSpPr>
          <p:cNvPr id="7" name="Text 5"/>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5</a:t>
            </a:r>
            <a:endParaRPr lang="en-US" sz="900" dirty="0"/>
          </a:p>
        </p:txBody>
      </p:sp>
      <p:sp>
        <p:nvSpPr>
          <p:cNvPr id="8" name="Shape 6"/>
          <p:cNvSpPr/>
          <p:nvPr/>
        </p:nvSpPr>
        <p:spPr>
          <a:xfrm>
            <a:off x="566928" y="1783080"/>
            <a:ext cx="3383280" cy="4434840"/>
          </a:xfrm>
          <a:prstGeom prst="roundRect">
            <a:avLst>
              <a:gd name="adj" fmla="val 1622"/>
            </a:avLst>
          </a:prstGeom>
          <a:solidFill>
            <a:srgbClr val="EFF4FB"/>
          </a:solidFill>
          <a:ln w="12700">
            <a:solidFill>
              <a:srgbClr val="CBD8EA"/>
            </a:solidFill>
            <a:prstDash val="solid"/>
          </a:ln>
        </p:spPr>
      </p:sp>
      <p:pic>
        <p:nvPicPr>
          <p:cNvPr id="9" name="Image 0" descr="/tmp/avatar_majed.png">    </p:cNvPr>
          <p:cNvPicPr>
            <a:picLocks noChangeAspect="1"/>
          </p:cNvPicPr>
          <p:nvPr/>
        </p:nvPicPr>
        <p:blipFill>
          <a:blip r:embed="rId1"/>
          <a:stretch>
            <a:fillRect/>
          </a:stretch>
        </p:blipFill>
        <p:spPr>
          <a:xfrm>
            <a:off x="1481328" y="1965960"/>
            <a:ext cx="1554480" cy="1554480"/>
          </a:xfrm>
          <a:prstGeom prst="rect">
            <a:avLst/>
          </a:prstGeom>
        </p:spPr>
      </p:pic>
      <p:sp>
        <p:nvSpPr>
          <p:cNvPr id="10" name="Text 7"/>
          <p:cNvSpPr/>
          <p:nvPr/>
        </p:nvSpPr>
        <p:spPr>
          <a:xfrm>
            <a:off x="566928" y="3566160"/>
            <a:ext cx="3383280" cy="365760"/>
          </a:xfrm>
          <a:prstGeom prst="rect">
            <a:avLst/>
          </a:prstGeom>
          <a:noFill/>
          <a:ln/>
        </p:spPr>
        <p:txBody>
          <a:bodyPr wrap="square" lIns="0" tIns="0" rIns="0" bIns="0" rtlCol="0" anchor="ctr"/>
          <a:lstStyle/>
          <a:p>
            <a:pPr algn="ctr" indent="0" marL="0">
              <a:buNone/>
            </a:pPr>
            <a:r>
              <a:rPr lang="en-US" sz="1900" b="1" dirty="0">
                <a:solidFill>
                  <a:srgbClr val="1F3864"/>
                </a:solidFill>
                <a:latin typeface="Calibri" pitchFamily="34" charset="0"/>
                <a:ea typeface="Calibri" pitchFamily="34" charset="-122"/>
                <a:cs typeface="Calibri" pitchFamily="34" charset="-120"/>
              </a:rPr>
              <a:t>Majed</a:t>
            </a:r>
            <a:endParaRPr lang="en-US" sz="1900" dirty="0"/>
          </a:p>
        </p:txBody>
      </p:sp>
      <p:sp>
        <p:nvSpPr>
          <p:cNvPr id="11" name="Text 8"/>
          <p:cNvSpPr/>
          <p:nvPr/>
        </p:nvSpPr>
        <p:spPr>
          <a:xfrm>
            <a:off x="566928" y="3913632"/>
            <a:ext cx="3383280" cy="256032"/>
          </a:xfrm>
          <a:prstGeom prst="rect">
            <a:avLst/>
          </a:prstGeom>
          <a:noFill/>
          <a:ln/>
        </p:spPr>
        <p:txBody>
          <a:bodyPr wrap="square" lIns="0" tIns="0" rIns="0" bIns="0" rtlCol="0" anchor="ctr"/>
          <a:lstStyle/>
          <a:p>
            <a:pPr algn="ctr" indent="0" marL="0">
              <a:buNone/>
            </a:pPr>
            <a:r>
              <a:rPr lang="en-US" sz="1050" b="1" dirty="0">
                <a:solidFill>
                  <a:srgbClr val="0E8FCF"/>
                </a:solidFill>
                <a:latin typeface="Calibri" pitchFamily="34" charset="0"/>
                <a:ea typeface="Calibri" pitchFamily="34" charset="-122"/>
                <a:cs typeface="Calibri" pitchFamily="34" charset="-120"/>
              </a:rPr>
              <a:t>Primary Persona</a:t>
            </a:r>
            <a:endParaRPr lang="en-US" sz="1050" dirty="0"/>
          </a:p>
        </p:txBody>
      </p:sp>
      <p:sp>
        <p:nvSpPr>
          <p:cNvPr id="12" name="Text 9"/>
          <p:cNvSpPr/>
          <p:nvPr/>
        </p:nvSpPr>
        <p:spPr>
          <a:xfrm>
            <a:off x="795528" y="4251960"/>
            <a:ext cx="2926080" cy="914400"/>
          </a:xfrm>
          <a:prstGeom prst="rect">
            <a:avLst/>
          </a:prstGeom>
          <a:noFill/>
          <a:ln/>
        </p:spPr>
        <p:txBody>
          <a:bodyPr wrap="square" lIns="0" tIns="0" rIns="0" bIns="0" rtlCol="0" anchor="t"/>
          <a:lstStyle/>
          <a:p>
            <a:pPr indent="0" marL="0">
              <a:lnSpc>
                <a:spcPts val="1450"/>
              </a:lnSpc>
              <a:buNone/>
            </a:pPr>
            <a:r>
              <a:rPr lang="en-US" sz="1150" i="1" dirty="0">
                <a:solidFill>
                  <a:srgbClr val="2F5496"/>
                </a:solidFill>
                <a:latin typeface="Calibri" pitchFamily="34" charset="0"/>
                <a:ea typeface="Calibri" pitchFamily="34" charset="-122"/>
                <a:cs typeface="Calibri" pitchFamily="34" charset="-120"/>
              </a:rPr>
              <a:t>“If it does not work in the first ten minutes, I move on.”</a:t>
            </a:r>
            <a:pPr indent="0" marL="0">
              <a:lnSpc>
                <a:spcPts val="1450"/>
              </a:lnSpc>
              <a:buNone/>
            </a:pPr>
            <a:r>
              <a:rPr lang="en-US" sz="1000" dirty="0">
                <a:solidFill>
                  <a:srgbClr val="6B7280"/>
                </a:solidFill>
                <a:latin typeface="Calibri" pitchFamily="34" charset="0"/>
                <a:ea typeface="Calibri" pitchFamily="34" charset="-122"/>
                <a:cs typeface="Calibri" pitchFamily="34" charset="-120"/>
              </a:rPr>
              <a:t>   — BC-01</a:t>
            </a:r>
            <a:endParaRPr lang="en-US" sz="1150" dirty="0"/>
          </a:p>
        </p:txBody>
      </p:sp>
      <p:sp>
        <p:nvSpPr>
          <p:cNvPr id="13" name="Text 10"/>
          <p:cNvSpPr/>
          <p:nvPr/>
        </p:nvSpPr>
        <p:spPr>
          <a:xfrm>
            <a:off x="795528" y="5212080"/>
            <a:ext cx="2926080" cy="914400"/>
          </a:xfrm>
          <a:prstGeom prst="rect">
            <a:avLst/>
          </a:prstGeom>
          <a:noFill/>
          <a:ln/>
        </p:spPr>
        <p:txBody>
          <a:bodyPr wrap="square" lIns="0" tIns="0" rIns="0" bIns="0" rtlCol="0" anchor="t"/>
          <a:lstStyle/>
          <a:p>
            <a:pPr indent="0" marL="0">
              <a:lnSpc>
                <a:spcPts val="1350"/>
              </a:lnSpc>
              <a:buNone/>
            </a:pPr>
            <a:r>
              <a:rPr lang="en-US" sz="1050" b="1" dirty="0">
                <a:solidFill>
                  <a:srgbClr val="0E8FCF"/>
                </a:solidFill>
                <a:latin typeface="Calibri" pitchFamily="34" charset="0"/>
                <a:ea typeface="Calibri" pitchFamily="34" charset="-122"/>
                <a:cs typeface="Calibri" pitchFamily="34" charset="-120"/>
              </a:rPr>
              <a:t>Core tension:  </a:t>
            </a:r>
            <a:pPr indent="0" marL="0">
              <a:lnSpc>
                <a:spcPts val="1350"/>
              </a:lnSpc>
              <a:buNone/>
            </a:pPr>
            <a:r>
              <a:rPr lang="en-US" sz="1050" dirty="0">
                <a:solidFill>
                  <a:srgbClr val="1F2937"/>
                </a:solidFill>
                <a:latin typeface="Calibri" pitchFamily="34" charset="0"/>
                <a:ea typeface="Calibri" pitchFamily="34" charset="-122"/>
                <a:cs typeface="Calibri" pitchFamily="34" charset="-120"/>
              </a:rPr>
              <a:t>I need proof that this line works for what I bought it for before going back becomes easier.</a:t>
            </a:r>
            <a:endParaRPr lang="en-US" sz="1050" dirty="0"/>
          </a:p>
        </p:txBody>
      </p:sp>
      <p:sp>
        <p:nvSpPr>
          <p:cNvPr id="14" name="Shape 11"/>
          <p:cNvSpPr/>
          <p:nvPr/>
        </p:nvSpPr>
        <p:spPr>
          <a:xfrm>
            <a:off x="4270248" y="1783080"/>
            <a:ext cx="2268626" cy="2395728"/>
          </a:xfrm>
          <a:prstGeom prst="roundRect">
            <a:avLst>
              <a:gd name="adj" fmla="val 2418"/>
            </a:avLst>
          </a:prstGeom>
          <a:solidFill>
            <a:srgbClr val="FFFFFF"/>
          </a:solidFill>
          <a:ln w="12700">
            <a:solidFill>
              <a:srgbClr val="CBD8EA"/>
            </a:solidFill>
            <a:prstDash val="solid"/>
          </a:ln>
        </p:spPr>
      </p:sp>
      <p:sp>
        <p:nvSpPr>
          <p:cNvPr id="15" name="Shape 12"/>
          <p:cNvSpPr/>
          <p:nvPr/>
        </p:nvSpPr>
        <p:spPr>
          <a:xfrm>
            <a:off x="4270248" y="1783080"/>
            <a:ext cx="64008" cy="2395728"/>
          </a:xfrm>
          <a:prstGeom prst="rect">
            <a:avLst/>
          </a:prstGeom>
          <a:solidFill>
            <a:srgbClr val="2F5496"/>
          </a:solidFill>
          <a:ln/>
        </p:spPr>
      </p:sp>
      <p:sp>
        <p:nvSpPr>
          <p:cNvPr id="16" name="Text 13"/>
          <p:cNvSpPr/>
          <p:nvPr/>
        </p:nvSpPr>
        <p:spPr>
          <a:xfrm>
            <a:off x="4471416" y="1874520"/>
            <a:ext cx="1939442"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Profile</a:t>
            </a:r>
            <a:endParaRPr lang="en-US" sz="1150" dirty="0"/>
          </a:p>
        </p:txBody>
      </p:sp>
      <p:sp>
        <p:nvSpPr>
          <p:cNvPr id="17" name="Text 14"/>
          <p:cNvSpPr/>
          <p:nvPr/>
        </p:nvSpPr>
        <p:spPr>
          <a:xfrm>
            <a:off x="4507992" y="2185416"/>
            <a:ext cx="1866290" cy="1901952"/>
          </a:xfrm>
          <a:prstGeom prst="rect">
            <a:avLst/>
          </a:prstGeom>
          <a:noFill/>
          <a:ln/>
        </p:spPr>
        <p:txBody>
          <a:bodyPr wrap="square" lIns="0" tIns="0" rIns="0" bIns="0" rtlCol="0" anchor="t"/>
          <a:lstStyle/>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New prepaid/eSIM customer in a digitally self-directed acquisition context</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User and payer in all six S1 records</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Uses the line for a clear first task: data, OTP, app access, work or streaming</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Keeps another SIM, Wi-Fi or working number close enough to switch back</a:t>
            </a:r>
            <a:endParaRPr lang="en-US" sz="990" dirty="0"/>
          </a:p>
        </p:txBody>
      </p:sp>
      <p:sp>
        <p:nvSpPr>
          <p:cNvPr id="18" name="Shape 15"/>
          <p:cNvSpPr/>
          <p:nvPr/>
        </p:nvSpPr>
        <p:spPr>
          <a:xfrm>
            <a:off x="6813194" y="1783080"/>
            <a:ext cx="2268626" cy="2395728"/>
          </a:xfrm>
          <a:prstGeom prst="roundRect">
            <a:avLst>
              <a:gd name="adj" fmla="val 2418"/>
            </a:avLst>
          </a:prstGeom>
          <a:solidFill>
            <a:srgbClr val="FFFFFF"/>
          </a:solidFill>
          <a:ln w="12700">
            <a:solidFill>
              <a:srgbClr val="CBD8EA"/>
            </a:solidFill>
            <a:prstDash val="solid"/>
          </a:ln>
        </p:spPr>
      </p:sp>
      <p:sp>
        <p:nvSpPr>
          <p:cNvPr id="19" name="Shape 16"/>
          <p:cNvSpPr/>
          <p:nvPr/>
        </p:nvSpPr>
        <p:spPr>
          <a:xfrm>
            <a:off x="6813194" y="1783080"/>
            <a:ext cx="64008" cy="2395728"/>
          </a:xfrm>
          <a:prstGeom prst="rect">
            <a:avLst/>
          </a:prstGeom>
          <a:solidFill>
            <a:srgbClr val="2E8B57"/>
          </a:solidFill>
          <a:ln/>
        </p:spPr>
      </p:sp>
      <p:sp>
        <p:nvSpPr>
          <p:cNvPr id="20" name="Text 17"/>
          <p:cNvSpPr/>
          <p:nvPr/>
        </p:nvSpPr>
        <p:spPr>
          <a:xfrm>
            <a:off x="7014362" y="1874520"/>
            <a:ext cx="1939442"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Observed behavior</a:t>
            </a:r>
            <a:endParaRPr lang="en-US" sz="1150" dirty="0"/>
          </a:p>
        </p:txBody>
      </p:sp>
      <p:sp>
        <p:nvSpPr>
          <p:cNvPr id="21" name="Text 18"/>
          <p:cNvSpPr/>
          <p:nvPr/>
        </p:nvSpPr>
        <p:spPr>
          <a:xfrm>
            <a:off x="7050938" y="2185416"/>
            <a:ext cx="1866290" cy="1901952"/>
          </a:xfrm>
          <a:prstGeom prst="rect">
            <a:avLst/>
          </a:prstGeom>
          <a:noFill/>
          <a:ln/>
        </p:spPr>
        <p:txBody>
          <a:bodyPr wrap="square" lIns="0" tIns="0" rIns="0" bIns="0" rtlCol="0" anchor="t"/>
          <a:lstStyle/>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Tests the line quickly</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Looks for immediate task proof</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Retries only briefly</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Compares with an existing alternative</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Rarely seeks formal support when fallback is easier</a:t>
            </a:r>
            <a:endParaRPr lang="en-US" sz="990" dirty="0"/>
          </a:p>
        </p:txBody>
      </p:sp>
      <p:sp>
        <p:nvSpPr>
          <p:cNvPr id="22" name="Shape 19"/>
          <p:cNvSpPr/>
          <p:nvPr/>
        </p:nvSpPr>
        <p:spPr>
          <a:xfrm>
            <a:off x="9356141" y="1783080"/>
            <a:ext cx="2268626" cy="2395728"/>
          </a:xfrm>
          <a:prstGeom prst="roundRect">
            <a:avLst>
              <a:gd name="adj" fmla="val 2418"/>
            </a:avLst>
          </a:prstGeom>
          <a:solidFill>
            <a:srgbClr val="FFFFFF"/>
          </a:solidFill>
          <a:ln w="12700">
            <a:solidFill>
              <a:srgbClr val="CBD8EA"/>
            </a:solidFill>
            <a:prstDash val="solid"/>
          </a:ln>
        </p:spPr>
      </p:sp>
      <p:sp>
        <p:nvSpPr>
          <p:cNvPr id="23" name="Shape 20"/>
          <p:cNvSpPr/>
          <p:nvPr/>
        </p:nvSpPr>
        <p:spPr>
          <a:xfrm>
            <a:off x="9356141" y="1783080"/>
            <a:ext cx="64008" cy="2395728"/>
          </a:xfrm>
          <a:prstGeom prst="rect">
            <a:avLst/>
          </a:prstGeom>
          <a:solidFill>
            <a:srgbClr val="C8881A"/>
          </a:solidFill>
          <a:ln/>
        </p:spPr>
      </p:sp>
      <p:sp>
        <p:nvSpPr>
          <p:cNvPr id="24" name="Text 21"/>
          <p:cNvSpPr/>
          <p:nvPr/>
        </p:nvSpPr>
        <p:spPr>
          <a:xfrm>
            <a:off x="9557309" y="1874520"/>
            <a:ext cx="1939442"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Goals &amp; motivations</a:t>
            </a:r>
            <a:endParaRPr lang="en-US" sz="1150" dirty="0"/>
          </a:p>
        </p:txBody>
      </p:sp>
      <p:sp>
        <p:nvSpPr>
          <p:cNvPr id="25" name="Text 22"/>
          <p:cNvSpPr/>
          <p:nvPr/>
        </p:nvSpPr>
        <p:spPr>
          <a:xfrm>
            <a:off x="9593885" y="2185416"/>
            <a:ext cx="1866290" cy="1901952"/>
          </a:xfrm>
          <a:prstGeom prst="rect">
            <a:avLst/>
          </a:prstGeom>
          <a:noFill/>
          <a:ln/>
        </p:spPr>
        <p:txBody>
          <a:bodyPr wrap="square" lIns="0" tIns="0" rIns="0" bIns="0" rtlCol="0" anchor="t"/>
          <a:lstStyle/>
          <a:p>
            <a:pPr indent="0" marL="0">
              <a:lnSpc>
                <a:spcPts val="1290"/>
              </a:lnSpc>
              <a:spcAft>
                <a:spcPts val="300"/>
              </a:spcAft>
              <a:buNone/>
            </a:pPr>
            <a:r>
              <a:rPr lang="en-US" sz="990" dirty="0">
                <a:solidFill>
                  <a:srgbClr val="1F2937"/>
                </a:solidFill>
                <a:latin typeface="Calibri" pitchFamily="34" charset="0"/>
                <a:ea typeface="Calibri" pitchFamily="34" charset="-122"/>
                <a:cs typeface="Calibri" pitchFamily="34" charset="-120"/>
              </a:rPr>
              <a:t>Complete the first meaningful task. Know the line is truly ready. Understand value/package status. Motivated by speed, confidence, reliability and value clarity.</a:t>
            </a:r>
            <a:endParaRPr lang="en-US" sz="990" dirty="0"/>
          </a:p>
        </p:txBody>
      </p:sp>
      <p:sp>
        <p:nvSpPr>
          <p:cNvPr id="26" name="Shape 23"/>
          <p:cNvSpPr/>
          <p:nvPr/>
        </p:nvSpPr>
        <p:spPr>
          <a:xfrm>
            <a:off x="4270248" y="4315968"/>
            <a:ext cx="3540100" cy="1901952"/>
          </a:xfrm>
          <a:prstGeom prst="roundRect">
            <a:avLst>
              <a:gd name="adj" fmla="val 2885"/>
            </a:avLst>
          </a:prstGeom>
          <a:solidFill>
            <a:srgbClr val="FFFFFF"/>
          </a:solidFill>
          <a:ln w="12700">
            <a:solidFill>
              <a:srgbClr val="CBD8EA"/>
            </a:solidFill>
            <a:prstDash val="solid"/>
          </a:ln>
        </p:spPr>
      </p:sp>
      <p:sp>
        <p:nvSpPr>
          <p:cNvPr id="27" name="Shape 24"/>
          <p:cNvSpPr/>
          <p:nvPr/>
        </p:nvSpPr>
        <p:spPr>
          <a:xfrm>
            <a:off x="4270248" y="4315968"/>
            <a:ext cx="64008" cy="1901952"/>
          </a:xfrm>
          <a:prstGeom prst="rect">
            <a:avLst/>
          </a:prstGeom>
          <a:solidFill>
            <a:srgbClr val="8E5BA6"/>
          </a:solidFill>
          <a:ln/>
        </p:spPr>
      </p:sp>
      <p:sp>
        <p:nvSpPr>
          <p:cNvPr id="28" name="Text 25"/>
          <p:cNvSpPr/>
          <p:nvPr/>
        </p:nvSpPr>
        <p:spPr>
          <a:xfrm>
            <a:off x="4471416" y="4407408"/>
            <a:ext cx="3210916"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Boundary cases</a:t>
            </a:r>
            <a:endParaRPr lang="en-US" sz="1150" dirty="0"/>
          </a:p>
        </p:txBody>
      </p:sp>
      <p:sp>
        <p:nvSpPr>
          <p:cNvPr id="29" name="Text 26"/>
          <p:cNvSpPr/>
          <p:nvPr/>
        </p:nvSpPr>
        <p:spPr>
          <a:xfrm>
            <a:off x="4507992" y="4718304"/>
            <a:ext cx="3137764" cy="1408176"/>
          </a:xfrm>
          <a:prstGeom prst="rect">
            <a:avLst/>
          </a:prstGeom>
          <a:noFill/>
          <a:ln/>
        </p:spPr>
        <p:txBody>
          <a:bodyPr wrap="square" lIns="0" tIns="0" rIns="0" bIns="0" rtlCol="0" anchor="t"/>
          <a:lstStyle/>
          <a:p>
            <a:pPr indent="0" marL="0">
              <a:lnSpc>
                <a:spcPts val="1330"/>
              </a:lnSpc>
              <a:spcAft>
                <a:spcPts val="300"/>
              </a:spcAft>
              <a:buNone/>
            </a:pPr>
            <a:r>
              <a:rPr lang="en-US" sz="1030" dirty="0">
                <a:solidFill>
                  <a:srgbClr val="1F2937"/>
                </a:solidFill>
                <a:latin typeface="Calibri" pitchFamily="34" charset="0"/>
                <a:ea typeface="Calibri" pitchFamily="34" charset="-122"/>
                <a:cs typeface="Calibri" pitchFamily="34" charset="-120"/>
              </a:rPr>
              <a:t>Low use is not automatically Majed. BC-05 shows low relevance, BC-17 shows device-setting ambiguity, and BC-18 shows adoption can still succeed when readiness is clear.</a:t>
            </a:r>
            <a:endParaRPr lang="en-US" sz="1030" dirty="0"/>
          </a:p>
        </p:txBody>
      </p:sp>
      <p:sp>
        <p:nvSpPr>
          <p:cNvPr id="30" name="Shape 27"/>
          <p:cNvSpPr/>
          <p:nvPr/>
        </p:nvSpPr>
        <p:spPr>
          <a:xfrm>
            <a:off x="8084668" y="4315968"/>
            <a:ext cx="3540100" cy="1901952"/>
          </a:xfrm>
          <a:prstGeom prst="roundRect">
            <a:avLst>
              <a:gd name="adj" fmla="val 2885"/>
            </a:avLst>
          </a:prstGeom>
          <a:solidFill>
            <a:srgbClr val="FDF2F2"/>
          </a:solidFill>
          <a:ln w="12700">
            <a:solidFill>
              <a:srgbClr val="CBD8EA"/>
            </a:solidFill>
            <a:prstDash val="solid"/>
          </a:ln>
        </p:spPr>
      </p:sp>
      <p:sp>
        <p:nvSpPr>
          <p:cNvPr id="31" name="Shape 28"/>
          <p:cNvSpPr/>
          <p:nvPr/>
        </p:nvSpPr>
        <p:spPr>
          <a:xfrm>
            <a:off x="8084668" y="4315968"/>
            <a:ext cx="64008" cy="1901952"/>
          </a:xfrm>
          <a:prstGeom prst="rect">
            <a:avLst/>
          </a:prstGeom>
          <a:solidFill>
            <a:srgbClr val="C0504D"/>
          </a:solidFill>
          <a:ln/>
        </p:spPr>
      </p:sp>
      <p:sp>
        <p:nvSpPr>
          <p:cNvPr id="32" name="Text 29"/>
          <p:cNvSpPr/>
          <p:nvPr/>
        </p:nvSpPr>
        <p:spPr>
          <a:xfrm>
            <a:off x="8285836" y="4407408"/>
            <a:ext cx="3210916"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Frustrations</a:t>
            </a:r>
            <a:endParaRPr lang="en-US" sz="1150" dirty="0"/>
          </a:p>
        </p:txBody>
      </p:sp>
      <p:sp>
        <p:nvSpPr>
          <p:cNvPr id="33" name="Text 30"/>
          <p:cNvSpPr/>
          <p:nvPr/>
        </p:nvSpPr>
        <p:spPr>
          <a:xfrm>
            <a:off x="8322412" y="4718304"/>
            <a:ext cx="3137764" cy="1408176"/>
          </a:xfrm>
          <a:prstGeom prst="rect">
            <a:avLst/>
          </a:prstGeom>
          <a:noFill/>
          <a:ln/>
        </p:spPr>
        <p:txBody>
          <a:bodyPr wrap="square" lIns="0" tIns="0" rIns="0" bIns="0" rtlCol="0" anchor="t"/>
          <a:lstStyle/>
          <a:p>
            <a:pPr indent="0" marL="0">
              <a:lnSpc>
                <a:spcPts val="1330"/>
              </a:lnSpc>
              <a:spcAft>
                <a:spcPts val="300"/>
              </a:spcAft>
              <a:buNone/>
            </a:pPr>
            <a:r>
              <a:rPr lang="en-US" sz="1030" dirty="0">
                <a:solidFill>
                  <a:srgbClr val="1F2937"/>
                </a:solidFill>
                <a:latin typeface="Calibri" pitchFamily="34" charset="0"/>
                <a:ea typeface="Calibri" pitchFamily="34" charset="-122"/>
                <a:cs typeface="Calibri" pitchFamily="34" charset="-120"/>
              </a:rPr>
              <a:t>Active without task success; unclear cause; effortful troubleshooting. If getting help takes more effort than going back to the old SIM, many customers simply go back.</a:t>
            </a:r>
            <a:endParaRPr lang="en-US" sz="10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2E86AB"/>
                </a:solidFill>
                <a:latin typeface="Calibri" pitchFamily="34" charset="0"/>
                <a:ea typeface="Calibri" pitchFamily="34" charset="-122"/>
                <a:cs typeface="Calibri" pitchFamily="34" charset="-120"/>
              </a:rPr>
              <a:t>SECONDARY COMPARISON ARCHETYPE</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700"/>
              </a:lnSpc>
              <a:buNone/>
            </a:pPr>
            <a:r>
              <a:rPr lang="en-US" sz="2400" b="1" dirty="0">
                <a:solidFill>
                  <a:srgbClr val="1F3864"/>
                </a:solidFill>
                <a:latin typeface="Calibri" pitchFamily="34" charset="0"/>
                <a:ea typeface="Calibri" pitchFamily="34" charset="-122"/>
                <a:cs typeface="Calibri" pitchFamily="34" charset="-120"/>
              </a:rPr>
              <a:t>Alya — The Guided-Handover Navigator</a:t>
            </a:r>
            <a:endParaRPr lang="en-US" sz="24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1389888"/>
            <a:ext cx="11057839"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S2 assisted-channel customers with weak handover    ·    Synthesized archetype based on S2 interview patterns. Not an individual participant.</a:t>
            </a:r>
            <a:endParaRPr lang="en-US" sz="1150" dirty="0"/>
          </a:p>
        </p:txBody>
      </p:sp>
      <p:sp>
        <p:nvSpPr>
          <p:cNvPr id="6" name="Text 4"/>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4.1 Persona Archetype</a:t>
            </a:r>
            <a:endParaRPr lang="en-US" sz="900" dirty="0"/>
          </a:p>
        </p:txBody>
      </p:sp>
      <p:sp>
        <p:nvSpPr>
          <p:cNvPr id="7" name="Text 5"/>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5</a:t>
            </a:r>
            <a:endParaRPr lang="en-US" sz="900" dirty="0"/>
          </a:p>
        </p:txBody>
      </p:sp>
      <p:sp>
        <p:nvSpPr>
          <p:cNvPr id="8" name="Shape 6"/>
          <p:cNvSpPr/>
          <p:nvPr/>
        </p:nvSpPr>
        <p:spPr>
          <a:xfrm>
            <a:off x="566928" y="1783080"/>
            <a:ext cx="3383280" cy="4434840"/>
          </a:xfrm>
          <a:prstGeom prst="roundRect">
            <a:avLst>
              <a:gd name="adj" fmla="val 1622"/>
            </a:avLst>
          </a:prstGeom>
          <a:solidFill>
            <a:srgbClr val="EFF4FB"/>
          </a:solidFill>
          <a:ln w="12700">
            <a:solidFill>
              <a:srgbClr val="CBD8EA"/>
            </a:solidFill>
            <a:prstDash val="solid"/>
          </a:ln>
        </p:spPr>
      </p:sp>
      <p:pic>
        <p:nvPicPr>
          <p:cNvPr id="9" name="Image 0" descr="/tmp/avatar_alya.png">    </p:cNvPr>
          <p:cNvPicPr>
            <a:picLocks noChangeAspect="1"/>
          </p:cNvPicPr>
          <p:nvPr/>
        </p:nvPicPr>
        <p:blipFill>
          <a:blip r:embed="rId1"/>
          <a:stretch>
            <a:fillRect/>
          </a:stretch>
        </p:blipFill>
        <p:spPr>
          <a:xfrm>
            <a:off x="1481328" y="1965960"/>
            <a:ext cx="1554480" cy="1554480"/>
          </a:xfrm>
          <a:prstGeom prst="rect">
            <a:avLst/>
          </a:prstGeom>
        </p:spPr>
      </p:pic>
      <p:sp>
        <p:nvSpPr>
          <p:cNvPr id="10" name="Text 7"/>
          <p:cNvSpPr/>
          <p:nvPr/>
        </p:nvSpPr>
        <p:spPr>
          <a:xfrm>
            <a:off x="566928" y="3566160"/>
            <a:ext cx="3383280" cy="365760"/>
          </a:xfrm>
          <a:prstGeom prst="rect">
            <a:avLst/>
          </a:prstGeom>
          <a:noFill/>
          <a:ln/>
        </p:spPr>
        <p:txBody>
          <a:bodyPr wrap="square" lIns="0" tIns="0" rIns="0" bIns="0" rtlCol="0" anchor="ctr"/>
          <a:lstStyle/>
          <a:p>
            <a:pPr algn="ctr" indent="0" marL="0">
              <a:buNone/>
            </a:pPr>
            <a:r>
              <a:rPr lang="en-US" sz="1900" b="1" dirty="0">
                <a:solidFill>
                  <a:srgbClr val="1F3864"/>
                </a:solidFill>
                <a:latin typeface="Calibri" pitchFamily="34" charset="0"/>
                <a:ea typeface="Calibri" pitchFamily="34" charset="-122"/>
                <a:cs typeface="Calibri" pitchFamily="34" charset="-120"/>
              </a:rPr>
              <a:t>Alya</a:t>
            </a:r>
            <a:endParaRPr lang="en-US" sz="1900" dirty="0"/>
          </a:p>
        </p:txBody>
      </p:sp>
      <p:sp>
        <p:nvSpPr>
          <p:cNvPr id="11" name="Text 8"/>
          <p:cNvSpPr/>
          <p:nvPr/>
        </p:nvSpPr>
        <p:spPr>
          <a:xfrm>
            <a:off x="566928" y="3913632"/>
            <a:ext cx="3383280" cy="256032"/>
          </a:xfrm>
          <a:prstGeom prst="rect">
            <a:avLst/>
          </a:prstGeom>
          <a:noFill/>
          <a:ln/>
        </p:spPr>
        <p:txBody>
          <a:bodyPr wrap="square" lIns="0" tIns="0" rIns="0" bIns="0" rtlCol="0" anchor="ctr"/>
          <a:lstStyle/>
          <a:p>
            <a:pPr algn="ctr" indent="0" marL="0">
              <a:buNone/>
            </a:pPr>
            <a:r>
              <a:rPr lang="en-US" sz="1050" b="1" dirty="0">
                <a:solidFill>
                  <a:srgbClr val="2E86AB"/>
                </a:solidFill>
                <a:latin typeface="Calibri" pitchFamily="34" charset="0"/>
                <a:ea typeface="Calibri" pitchFamily="34" charset="-122"/>
                <a:cs typeface="Calibri" pitchFamily="34" charset="-120"/>
              </a:rPr>
              <a:t>Secondary Comparison Persona</a:t>
            </a:r>
            <a:endParaRPr lang="en-US" sz="1050" dirty="0"/>
          </a:p>
        </p:txBody>
      </p:sp>
      <p:sp>
        <p:nvSpPr>
          <p:cNvPr id="12" name="Text 9"/>
          <p:cNvSpPr/>
          <p:nvPr/>
        </p:nvSpPr>
        <p:spPr>
          <a:xfrm>
            <a:off x="795528" y="4251960"/>
            <a:ext cx="2926080" cy="914400"/>
          </a:xfrm>
          <a:prstGeom prst="rect">
            <a:avLst/>
          </a:prstGeom>
          <a:noFill/>
          <a:ln/>
        </p:spPr>
        <p:txBody>
          <a:bodyPr wrap="square" lIns="0" tIns="0" rIns="0" bIns="0" rtlCol="0" anchor="t"/>
          <a:lstStyle/>
          <a:p>
            <a:pPr indent="0" marL="0">
              <a:lnSpc>
                <a:spcPts val="1450"/>
              </a:lnSpc>
              <a:buNone/>
            </a:pPr>
            <a:r>
              <a:rPr lang="en-US" sz="1150" i="1" dirty="0">
                <a:solidFill>
                  <a:srgbClr val="2F5496"/>
                </a:solidFill>
                <a:latin typeface="Calibri" pitchFamily="34" charset="0"/>
                <a:ea typeface="Calibri" pitchFamily="34" charset="-122"/>
                <a:cs typeface="Calibri" pitchFamily="34" charset="-120"/>
              </a:rPr>
              <a:t>“The shop helped once. At home I needed one simple message showing what to do next.”</a:t>
            </a:r>
            <a:pPr indent="0" marL="0">
              <a:lnSpc>
                <a:spcPts val="1450"/>
              </a:lnSpc>
              <a:buNone/>
            </a:pPr>
            <a:r>
              <a:rPr lang="en-US" sz="1000" dirty="0">
                <a:solidFill>
                  <a:srgbClr val="6B7280"/>
                </a:solidFill>
                <a:latin typeface="Calibri" pitchFamily="34" charset="0"/>
                <a:ea typeface="Calibri" pitchFamily="34" charset="-122"/>
                <a:cs typeface="Calibri" pitchFamily="34" charset="-120"/>
              </a:rPr>
              <a:t>   — BC-12</a:t>
            </a:r>
            <a:endParaRPr lang="en-US" sz="1150" dirty="0"/>
          </a:p>
        </p:txBody>
      </p:sp>
      <p:sp>
        <p:nvSpPr>
          <p:cNvPr id="13" name="Text 10"/>
          <p:cNvSpPr/>
          <p:nvPr/>
        </p:nvSpPr>
        <p:spPr>
          <a:xfrm>
            <a:off x="795528" y="5212080"/>
            <a:ext cx="2926080" cy="914400"/>
          </a:xfrm>
          <a:prstGeom prst="rect">
            <a:avLst/>
          </a:prstGeom>
          <a:noFill/>
          <a:ln/>
        </p:spPr>
        <p:txBody>
          <a:bodyPr wrap="square" lIns="0" tIns="0" rIns="0" bIns="0" rtlCol="0" anchor="t"/>
          <a:lstStyle/>
          <a:p>
            <a:pPr indent="0" marL="0">
              <a:lnSpc>
                <a:spcPts val="1350"/>
              </a:lnSpc>
              <a:buNone/>
            </a:pPr>
            <a:r>
              <a:rPr lang="en-US" sz="1050" b="1" dirty="0">
                <a:solidFill>
                  <a:srgbClr val="2E86AB"/>
                </a:solidFill>
                <a:latin typeface="Calibri" pitchFamily="34" charset="0"/>
                <a:ea typeface="Calibri" pitchFamily="34" charset="-122"/>
                <a:cs typeface="Calibri" pitchFamily="34" charset="-120"/>
              </a:rPr>
              <a:t>Core tension:  </a:t>
            </a:r>
            <a:pPr indent="0" marL="0">
              <a:lnSpc>
                <a:spcPts val="1350"/>
              </a:lnSpc>
              <a:buNone/>
            </a:pPr>
            <a:r>
              <a:rPr lang="en-US" sz="1050" dirty="0">
                <a:solidFill>
                  <a:srgbClr val="1F2937"/>
                </a:solidFill>
                <a:latin typeface="Calibri" pitchFamily="34" charset="0"/>
                <a:ea typeface="Calibri" pitchFamily="34" charset="-122"/>
                <a:cs typeface="Calibri" pitchFamily="34" charset="-120"/>
              </a:rPr>
              <a:t>The setup may be finished, but I still need confidence to continue once I am on my own.</a:t>
            </a:r>
            <a:endParaRPr lang="en-US" sz="1050" dirty="0"/>
          </a:p>
        </p:txBody>
      </p:sp>
      <p:sp>
        <p:nvSpPr>
          <p:cNvPr id="14" name="Shape 11"/>
          <p:cNvSpPr/>
          <p:nvPr/>
        </p:nvSpPr>
        <p:spPr>
          <a:xfrm>
            <a:off x="4270248" y="1783080"/>
            <a:ext cx="2268626" cy="2395728"/>
          </a:xfrm>
          <a:prstGeom prst="roundRect">
            <a:avLst>
              <a:gd name="adj" fmla="val 2418"/>
            </a:avLst>
          </a:prstGeom>
          <a:solidFill>
            <a:srgbClr val="FFFFFF"/>
          </a:solidFill>
          <a:ln w="12700">
            <a:solidFill>
              <a:srgbClr val="CBD8EA"/>
            </a:solidFill>
            <a:prstDash val="solid"/>
          </a:ln>
        </p:spPr>
      </p:sp>
      <p:sp>
        <p:nvSpPr>
          <p:cNvPr id="15" name="Shape 12"/>
          <p:cNvSpPr/>
          <p:nvPr/>
        </p:nvSpPr>
        <p:spPr>
          <a:xfrm>
            <a:off x="4270248" y="1783080"/>
            <a:ext cx="64008" cy="2395728"/>
          </a:xfrm>
          <a:prstGeom prst="rect">
            <a:avLst/>
          </a:prstGeom>
          <a:solidFill>
            <a:srgbClr val="2F5496"/>
          </a:solidFill>
          <a:ln/>
        </p:spPr>
      </p:sp>
      <p:sp>
        <p:nvSpPr>
          <p:cNvPr id="16" name="Text 13"/>
          <p:cNvSpPr/>
          <p:nvPr/>
        </p:nvSpPr>
        <p:spPr>
          <a:xfrm>
            <a:off x="4471416" y="1874520"/>
            <a:ext cx="1939442"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Profile</a:t>
            </a:r>
            <a:endParaRPr lang="en-US" sz="1150" dirty="0"/>
          </a:p>
        </p:txBody>
      </p:sp>
      <p:sp>
        <p:nvSpPr>
          <p:cNvPr id="17" name="Text 14"/>
          <p:cNvSpPr/>
          <p:nvPr/>
        </p:nvSpPr>
        <p:spPr>
          <a:xfrm>
            <a:off x="4507992" y="2185416"/>
            <a:ext cx="1866290" cy="1901952"/>
          </a:xfrm>
          <a:prstGeom prst="rect">
            <a:avLst/>
          </a:prstGeom>
          <a:noFill/>
          <a:ln/>
        </p:spPr>
        <p:txBody>
          <a:bodyPr wrap="square" lIns="0" tIns="0" rIns="0" bIns="0" rtlCol="0" anchor="t"/>
          <a:lstStyle/>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New physical SIM or assisted-channel customer</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Digital confidence is low to moderate</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May be user, buyer, payer, proxy or gatekeeper</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Retail help gets the line started, but confidence drops after leaving the store</a:t>
            </a:r>
            <a:endParaRPr lang="en-US" sz="990" dirty="0"/>
          </a:p>
        </p:txBody>
      </p:sp>
      <p:sp>
        <p:nvSpPr>
          <p:cNvPr id="18" name="Shape 15"/>
          <p:cNvSpPr/>
          <p:nvPr/>
        </p:nvSpPr>
        <p:spPr>
          <a:xfrm>
            <a:off x="6813194" y="1783080"/>
            <a:ext cx="2268626" cy="2395728"/>
          </a:xfrm>
          <a:prstGeom prst="roundRect">
            <a:avLst>
              <a:gd name="adj" fmla="val 2418"/>
            </a:avLst>
          </a:prstGeom>
          <a:solidFill>
            <a:srgbClr val="FFFFFF"/>
          </a:solidFill>
          <a:ln w="12700">
            <a:solidFill>
              <a:srgbClr val="CBD8EA"/>
            </a:solidFill>
            <a:prstDash val="solid"/>
          </a:ln>
        </p:spPr>
      </p:sp>
      <p:sp>
        <p:nvSpPr>
          <p:cNvPr id="19" name="Shape 16"/>
          <p:cNvSpPr/>
          <p:nvPr/>
        </p:nvSpPr>
        <p:spPr>
          <a:xfrm>
            <a:off x="6813194" y="1783080"/>
            <a:ext cx="64008" cy="2395728"/>
          </a:xfrm>
          <a:prstGeom prst="rect">
            <a:avLst/>
          </a:prstGeom>
          <a:solidFill>
            <a:srgbClr val="2E8B57"/>
          </a:solidFill>
          <a:ln/>
        </p:spPr>
      </p:sp>
      <p:sp>
        <p:nvSpPr>
          <p:cNvPr id="20" name="Text 17"/>
          <p:cNvSpPr/>
          <p:nvPr/>
        </p:nvSpPr>
        <p:spPr>
          <a:xfrm>
            <a:off x="7014362" y="1874520"/>
            <a:ext cx="1939442"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Observed behavior</a:t>
            </a:r>
            <a:endParaRPr lang="en-US" sz="1150" dirty="0"/>
          </a:p>
        </p:txBody>
      </p:sp>
      <p:sp>
        <p:nvSpPr>
          <p:cNvPr id="21" name="Text 18"/>
          <p:cNvSpPr/>
          <p:nvPr/>
        </p:nvSpPr>
        <p:spPr>
          <a:xfrm>
            <a:off x="7050938" y="2185416"/>
            <a:ext cx="1866290" cy="1901952"/>
          </a:xfrm>
          <a:prstGeom prst="rect">
            <a:avLst/>
          </a:prstGeom>
          <a:noFill/>
          <a:ln/>
        </p:spPr>
        <p:txBody>
          <a:bodyPr wrap="square" lIns="0" tIns="0" rIns="0" bIns="0" rtlCol="0" anchor="t"/>
          <a:lstStyle/>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Waits for family, retailer or care support</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Avoids testing if balance or settings feel risky</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Needs reassurance before continuing</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May stop using the line without reporting the reason</a:t>
            </a:r>
            <a:endParaRPr lang="en-US" sz="990" dirty="0"/>
          </a:p>
          <a:p>
            <a:pPr marL="101600" indent="-101600">
              <a:lnSpc>
                <a:spcPts val="1290"/>
              </a:lnSpc>
              <a:spcAft>
                <a:spcPts val="300"/>
              </a:spcAft>
              <a:buSzPct val="100000"/>
              <a:buChar char="•"/>
            </a:pPr>
            <a:r>
              <a:rPr lang="en-US" sz="990" dirty="0">
                <a:solidFill>
                  <a:srgbClr val="1F2937"/>
                </a:solidFill>
                <a:latin typeface="Calibri" pitchFamily="34" charset="0"/>
                <a:ea typeface="Calibri" pitchFamily="34" charset="-122"/>
                <a:cs typeface="Calibri" pitchFamily="34" charset="-120"/>
              </a:rPr>
              <a:t>Needs guidance for the person who can actually act</a:t>
            </a:r>
            <a:endParaRPr lang="en-US" sz="990" dirty="0"/>
          </a:p>
        </p:txBody>
      </p:sp>
      <p:sp>
        <p:nvSpPr>
          <p:cNvPr id="22" name="Shape 19"/>
          <p:cNvSpPr/>
          <p:nvPr/>
        </p:nvSpPr>
        <p:spPr>
          <a:xfrm>
            <a:off x="9356141" y="1783080"/>
            <a:ext cx="2268626" cy="2395728"/>
          </a:xfrm>
          <a:prstGeom prst="roundRect">
            <a:avLst>
              <a:gd name="adj" fmla="val 2418"/>
            </a:avLst>
          </a:prstGeom>
          <a:solidFill>
            <a:srgbClr val="FFFFFF"/>
          </a:solidFill>
          <a:ln w="12700">
            <a:solidFill>
              <a:srgbClr val="CBD8EA"/>
            </a:solidFill>
            <a:prstDash val="solid"/>
          </a:ln>
        </p:spPr>
      </p:sp>
      <p:sp>
        <p:nvSpPr>
          <p:cNvPr id="23" name="Shape 20"/>
          <p:cNvSpPr/>
          <p:nvPr/>
        </p:nvSpPr>
        <p:spPr>
          <a:xfrm>
            <a:off x="9356141" y="1783080"/>
            <a:ext cx="64008" cy="2395728"/>
          </a:xfrm>
          <a:prstGeom prst="rect">
            <a:avLst/>
          </a:prstGeom>
          <a:solidFill>
            <a:srgbClr val="C8881A"/>
          </a:solidFill>
          <a:ln/>
        </p:spPr>
      </p:sp>
      <p:sp>
        <p:nvSpPr>
          <p:cNvPr id="24" name="Text 21"/>
          <p:cNvSpPr/>
          <p:nvPr/>
        </p:nvSpPr>
        <p:spPr>
          <a:xfrm>
            <a:off x="9557309" y="1874520"/>
            <a:ext cx="1939442"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Goals &amp; motivations</a:t>
            </a:r>
            <a:endParaRPr lang="en-US" sz="1150" dirty="0"/>
          </a:p>
        </p:txBody>
      </p:sp>
      <p:sp>
        <p:nvSpPr>
          <p:cNvPr id="25" name="Text 22"/>
          <p:cNvSpPr/>
          <p:nvPr/>
        </p:nvSpPr>
        <p:spPr>
          <a:xfrm>
            <a:off x="9593885" y="2185416"/>
            <a:ext cx="1866290" cy="1901952"/>
          </a:xfrm>
          <a:prstGeom prst="rect">
            <a:avLst/>
          </a:prstGeom>
          <a:noFill/>
          <a:ln/>
        </p:spPr>
        <p:txBody>
          <a:bodyPr wrap="square" lIns="0" tIns="0" rIns="0" bIns="0" rtlCol="0" anchor="t"/>
          <a:lstStyle/>
          <a:p>
            <a:pPr indent="0" marL="0">
              <a:lnSpc>
                <a:spcPts val="1290"/>
              </a:lnSpc>
              <a:spcAft>
                <a:spcPts val="300"/>
              </a:spcAft>
              <a:buNone/>
            </a:pPr>
            <a:r>
              <a:rPr lang="en-US" sz="990" dirty="0">
                <a:solidFill>
                  <a:srgbClr val="1F2937"/>
                </a:solidFill>
                <a:latin typeface="Calibri" pitchFamily="34" charset="0"/>
                <a:ea typeface="Calibri" pitchFamily="34" charset="-122"/>
                <a:cs typeface="Calibri" pitchFamily="34" charset="-120"/>
              </a:rPr>
              <a:t>Know what is active, usable and chargeable. Test safely. Continue at home. Motivated by confidence, cost control, clear guidance and reassurance.</a:t>
            </a:r>
            <a:endParaRPr lang="en-US" sz="990" dirty="0"/>
          </a:p>
        </p:txBody>
      </p:sp>
      <p:sp>
        <p:nvSpPr>
          <p:cNvPr id="26" name="Shape 23"/>
          <p:cNvSpPr/>
          <p:nvPr/>
        </p:nvSpPr>
        <p:spPr>
          <a:xfrm>
            <a:off x="4270248" y="4315968"/>
            <a:ext cx="3540100" cy="1901952"/>
          </a:xfrm>
          <a:prstGeom prst="roundRect">
            <a:avLst>
              <a:gd name="adj" fmla="val 2885"/>
            </a:avLst>
          </a:prstGeom>
          <a:solidFill>
            <a:srgbClr val="FFFFFF"/>
          </a:solidFill>
          <a:ln w="12700">
            <a:solidFill>
              <a:srgbClr val="CBD8EA"/>
            </a:solidFill>
            <a:prstDash val="solid"/>
          </a:ln>
        </p:spPr>
      </p:sp>
      <p:sp>
        <p:nvSpPr>
          <p:cNvPr id="27" name="Shape 24"/>
          <p:cNvSpPr/>
          <p:nvPr/>
        </p:nvSpPr>
        <p:spPr>
          <a:xfrm>
            <a:off x="4270248" y="4315968"/>
            <a:ext cx="64008" cy="1901952"/>
          </a:xfrm>
          <a:prstGeom prst="rect">
            <a:avLst/>
          </a:prstGeom>
          <a:solidFill>
            <a:srgbClr val="8E5BA6"/>
          </a:solidFill>
          <a:ln/>
        </p:spPr>
      </p:sp>
      <p:sp>
        <p:nvSpPr>
          <p:cNvPr id="28" name="Text 25"/>
          <p:cNvSpPr/>
          <p:nvPr/>
        </p:nvSpPr>
        <p:spPr>
          <a:xfrm>
            <a:off x="4471416" y="4407408"/>
            <a:ext cx="3210916"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Boundary cases</a:t>
            </a:r>
            <a:endParaRPr lang="en-US" sz="1150" dirty="0"/>
          </a:p>
        </p:txBody>
      </p:sp>
      <p:sp>
        <p:nvSpPr>
          <p:cNvPr id="29" name="Text 26"/>
          <p:cNvSpPr/>
          <p:nvPr/>
        </p:nvSpPr>
        <p:spPr>
          <a:xfrm>
            <a:off x="4507992" y="4718304"/>
            <a:ext cx="3137764" cy="1408176"/>
          </a:xfrm>
          <a:prstGeom prst="rect">
            <a:avLst/>
          </a:prstGeom>
          <a:noFill/>
          <a:ln/>
        </p:spPr>
        <p:txBody>
          <a:bodyPr wrap="square" lIns="0" tIns="0" rIns="0" bIns="0" rtlCol="0" anchor="t"/>
          <a:lstStyle/>
          <a:p>
            <a:pPr indent="0" marL="0">
              <a:lnSpc>
                <a:spcPts val="1330"/>
              </a:lnSpc>
              <a:spcAft>
                <a:spcPts val="300"/>
              </a:spcAft>
              <a:buNone/>
            </a:pPr>
            <a:r>
              <a:rPr lang="en-US" sz="1030" dirty="0">
                <a:solidFill>
                  <a:srgbClr val="1F2937"/>
                </a:solidFill>
                <a:latin typeface="Calibri" pitchFamily="34" charset="0"/>
                <a:ea typeface="Calibri" pitchFamily="34" charset="-122"/>
                <a:cs typeface="Calibri" pitchFamily="34" charset="-120"/>
              </a:rPr>
              <a:t>Alya is not a fully self-directed digital starter. She also does not represent customers whose low use is intentional or whose handover already created enough confidence.</a:t>
            </a:r>
            <a:endParaRPr lang="en-US" sz="1030" dirty="0"/>
          </a:p>
        </p:txBody>
      </p:sp>
      <p:sp>
        <p:nvSpPr>
          <p:cNvPr id="30" name="Shape 27"/>
          <p:cNvSpPr/>
          <p:nvPr/>
        </p:nvSpPr>
        <p:spPr>
          <a:xfrm>
            <a:off x="8084668" y="4315968"/>
            <a:ext cx="3540100" cy="1901952"/>
          </a:xfrm>
          <a:prstGeom prst="roundRect">
            <a:avLst>
              <a:gd name="adj" fmla="val 2885"/>
            </a:avLst>
          </a:prstGeom>
          <a:solidFill>
            <a:srgbClr val="FDF2F2"/>
          </a:solidFill>
          <a:ln w="12700">
            <a:solidFill>
              <a:srgbClr val="CBD8EA"/>
            </a:solidFill>
            <a:prstDash val="solid"/>
          </a:ln>
        </p:spPr>
      </p:sp>
      <p:sp>
        <p:nvSpPr>
          <p:cNvPr id="31" name="Shape 28"/>
          <p:cNvSpPr/>
          <p:nvPr/>
        </p:nvSpPr>
        <p:spPr>
          <a:xfrm>
            <a:off x="8084668" y="4315968"/>
            <a:ext cx="64008" cy="1901952"/>
          </a:xfrm>
          <a:prstGeom prst="rect">
            <a:avLst/>
          </a:prstGeom>
          <a:solidFill>
            <a:srgbClr val="C0504D"/>
          </a:solidFill>
          <a:ln/>
        </p:spPr>
      </p:sp>
      <p:sp>
        <p:nvSpPr>
          <p:cNvPr id="32" name="Text 29"/>
          <p:cNvSpPr/>
          <p:nvPr/>
        </p:nvSpPr>
        <p:spPr>
          <a:xfrm>
            <a:off x="8285836" y="4407408"/>
            <a:ext cx="3210916" cy="292608"/>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Frustrations</a:t>
            </a:r>
            <a:endParaRPr lang="en-US" sz="1150" dirty="0"/>
          </a:p>
        </p:txBody>
      </p:sp>
      <p:sp>
        <p:nvSpPr>
          <p:cNvPr id="33" name="Text 30"/>
          <p:cNvSpPr/>
          <p:nvPr/>
        </p:nvSpPr>
        <p:spPr>
          <a:xfrm>
            <a:off x="8322412" y="4718304"/>
            <a:ext cx="3137764" cy="1408176"/>
          </a:xfrm>
          <a:prstGeom prst="rect">
            <a:avLst/>
          </a:prstGeom>
          <a:noFill/>
          <a:ln/>
        </p:spPr>
        <p:txBody>
          <a:bodyPr wrap="square" lIns="0" tIns="0" rIns="0" bIns="0" rtlCol="0" anchor="t"/>
          <a:lstStyle/>
          <a:p>
            <a:pPr indent="0" marL="0">
              <a:lnSpc>
                <a:spcPts val="1330"/>
              </a:lnSpc>
              <a:spcAft>
                <a:spcPts val="300"/>
              </a:spcAft>
              <a:buNone/>
            </a:pPr>
            <a:r>
              <a:rPr lang="en-US" sz="1030" dirty="0">
                <a:solidFill>
                  <a:srgbClr val="1F2937"/>
                </a:solidFill>
                <a:latin typeface="Calibri" pitchFamily="34" charset="0"/>
                <a:ea typeface="Calibri" pitchFamily="34" charset="-122"/>
                <a:cs typeface="Calibri" pitchFamily="34" charset="-120"/>
              </a:rPr>
              <a:t>Unclear handover; fear of mistakes or wasted balance. A weak handover can make a technically active line feel unsafe to continue.</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CONVERGENCE</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800"/>
              </a:lnSpc>
              <a:buNone/>
            </a:pPr>
            <a:r>
              <a:rPr lang="en-US" sz="2500" b="1" dirty="0">
                <a:solidFill>
                  <a:srgbClr val="1F3864"/>
                </a:solidFill>
                <a:latin typeface="Calibri" pitchFamily="34" charset="0"/>
                <a:ea typeface="Calibri" pitchFamily="34" charset="-122"/>
                <a:cs typeface="Calibri" pitchFamily="34" charset="-120"/>
              </a:rPr>
              <a:t>Why two personas, not one generic low-usage customer</a:t>
            </a:r>
            <a:endParaRPr lang="en-US" sz="25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1389888"/>
            <a:ext cx="11057839"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This is the evidence-based convergence Team UNITY will carry into Sprint 5.</a:t>
            </a:r>
            <a:endParaRPr lang="en-US" sz="1150" dirty="0"/>
          </a:p>
        </p:txBody>
      </p:sp>
      <p:sp>
        <p:nvSpPr>
          <p:cNvPr id="6" name="Text 4"/>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4.1 Persona Archetype</a:t>
            </a:r>
            <a:endParaRPr lang="en-US" sz="900" dirty="0"/>
          </a:p>
        </p:txBody>
      </p:sp>
      <p:sp>
        <p:nvSpPr>
          <p:cNvPr id="7" name="Text 5"/>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5</a:t>
            </a:r>
            <a:endParaRPr lang="en-US" sz="900" dirty="0"/>
          </a:p>
        </p:txBody>
      </p:sp>
      <p:sp>
        <p:nvSpPr>
          <p:cNvPr id="8" name="Shape 6"/>
          <p:cNvSpPr/>
          <p:nvPr/>
        </p:nvSpPr>
        <p:spPr>
          <a:xfrm>
            <a:off x="566928" y="1828800"/>
            <a:ext cx="3108960" cy="1371600"/>
          </a:xfrm>
          <a:prstGeom prst="roundRect">
            <a:avLst>
              <a:gd name="adj" fmla="val 4000"/>
            </a:avLst>
          </a:prstGeom>
          <a:solidFill>
            <a:srgbClr val="12233F"/>
          </a:solidFill>
          <a:ln w="12700">
            <a:solidFill>
              <a:srgbClr val="12233F"/>
            </a:solidFill>
            <a:prstDash val="solid"/>
          </a:ln>
        </p:spPr>
      </p:sp>
      <p:sp>
        <p:nvSpPr>
          <p:cNvPr id="9" name="Text 7"/>
          <p:cNvSpPr/>
          <p:nvPr/>
        </p:nvSpPr>
        <p:spPr>
          <a:xfrm>
            <a:off x="749808" y="1965960"/>
            <a:ext cx="2743200" cy="274320"/>
          </a:xfrm>
          <a:prstGeom prst="rect">
            <a:avLst/>
          </a:prstGeom>
          <a:noFill/>
          <a:ln/>
        </p:spPr>
        <p:txBody>
          <a:bodyPr wrap="square" lIns="0" tIns="0" rIns="0" bIns="0" rtlCol="0" anchor="ctr"/>
          <a:lstStyle/>
          <a:p>
            <a:pPr indent="0" marL="0">
              <a:buNone/>
            </a:pPr>
            <a:r>
              <a:rPr lang="en-US" sz="1100" b="1" dirty="0">
                <a:solidFill>
                  <a:srgbClr val="5EB6E4"/>
                </a:solidFill>
                <a:latin typeface="Calibri" pitchFamily="34" charset="0"/>
                <a:ea typeface="Calibri" pitchFamily="34" charset="-122"/>
                <a:cs typeface="Calibri" pitchFamily="34" charset="-120"/>
              </a:rPr>
              <a:t>One visible symptom</a:t>
            </a:r>
            <a:endParaRPr lang="en-US" sz="1100" dirty="0"/>
          </a:p>
        </p:txBody>
      </p:sp>
      <p:sp>
        <p:nvSpPr>
          <p:cNvPr id="10" name="Text 8"/>
          <p:cNvSpPr/>
          <p:nvPr/>
        </p:nvSpPr>
        <p:spPr>
          <a:xfrm>
            <a:off x="749808" y="2286000"/>
            <a:ext cx="2743200" cy="731520"/>
          </a:xfrm>
          <a:prstGeom prst="rect">
            <a:avLst/>
          </a:prstGeom>
          <a:noFill/>
          <a:ln/>
        </p:spPr>
        <p:txBody>
          <a:bodyPr wrap="square" lIns="0" tIns="0" rIns="0" bIns="0" rtlCol="0" anchor="t"/>
          <a:lstStyle/>
          <a:p>
            <a:pPr indent="0" marL="0">
              <a:lnSpc>
                <a:spcPts val="2000"/>
              </a:lnSpc>
              <a:buNone/>
            </a:pPr>
            <a:r>
              <a:rPr lang="en-US" sz="1600" b="1" dirty="0">
                <a:solidFill>
                  <a:srgbClr val="FFFFFF"/>
                </a:solidFill>
                <a:latin typeface="Calibri" pitchFamily="34" charset="0"/>
                <a:ea typeface="Calibri" pitchFamily="34" charset="-122"/>
                <a:cs typeface="Calibri" pitchFamily="34" charset="-120"/>
              </a:rPr>
              <a:t>Low or quiet early usage</a:t>
            </a:r>
            <a:endParaRPr lang="en-US" sz="1600" dirty="0"/>
          </a:p>
        </p:txBody>
      </p:sp>
      <p:sp>
        <p:nvSpPr>
          <p:cNvPr id="11" name="Text 9"/>
          <p:cNvSpPr/>
          <p:nvPr/>
        </p:nvSpPr>
        <p:spPr>
          <a:xfrm>
            <a:off x="3767328" y="2240280"/>
            <a:ext cx="365760" cy="548640"/>
          </a:xfrm>
          <a:prstGeom prst="rect">
            <a:avLst/>
          </a:prstGeom>
          <a:noFill/>
          <a:ln/>
        </p:spPr>
        <p:txBody>
          <a:bodyPr wrap="square" lIns="0" tIns="0" rIns="0" bIns="0" rtlCol="0" anchor="ctr"/>
          <a:lstStyle/>
          <a:p>
            <a:pPr algn="ctr" indent="0" marL="0">
              <a:buNone/>
            </a:pPr>
            <a:r>
              <a:rPr lang="en-US" sz="3000" b="1" dirty="0">
                <a:solidFill>
                  <a:srgbClr val="9AA3AF"/>
                </a:solidFill>
                <a:latin typeface="Calibri" pitchFamily="34" charset="0"/>
                <a:ea typeface="Calibri" pitchFamily="34" charset="-122"/>
                <a:cs typeface="Calibri" pitchFamily="34" charset="-120"/>
              </a:rPr>
              <a:t>›</a:t>
            </a:r>
            <a:endParaRPr lang="en-US" sz="3000" dirty="0"/>
          </a:p>
        </p:txBody>
      </p:sp>
      <p:sp>
        <p:nvSpPr>
          <p:cNvPr id="12" name="Shape 10"/>
          <p:cNvSpPr/>
          <p:nvPr/>
        </p:nvSpPr>
        <p:spPr>
          <a:xfrm>
            <a:off x="4224528" y="1828800"/>
            <a:ext cx="7400239" cy="1371600"/>
          </a:xfrm>
          <a:prstGeom prst="roundRect">
            <a:avLst>
              <a:gd name="adj" fmla="val 4000"/>
            </a:avLst>
          </a:prstGeom>
          <a:solidFill>
            <a:srgbClr val="EFF4FB"/>
          </a:solidFill>
          <a:ln w="12700">
            <a:solidFill>
              <a:srgbClr val="CBD8EA"/>
            </a:solidFill>
            <a:prstDash val="solid"/>
          </a:ln>
        </p:spPr>
      </p:sp>
      <p:sp>
        <p:nvSpPr>
          <p:cNvPr id="13" name="Shape 11"/>
          <p:cNvSpPr/>
          <p:nvPr/>
        </p:nvSpPr>
        <p:spPr>
          <a:xfrm>
            <a:off x="4224528" y="1828800"/>
            <a:ext cx="64008" cy="1371600"/>
          </a:xfrm>
          <a:prstGeom prst="rect">
            <a:avLst/>
          </a:prstGeom>
          <a:solidFill>
            <a:srgbClr val="0E8FCF"/>
          </a:solidFill>
          <a:ln/>
        </p:spPr>
      </p:sp>
      <p:sp>
        <p:nvSpPr>
          <p:cNvPr id="14" name="Text 12"/>
          <p:cNvSpPr/>
          <p:nvPr/>
        </p:nvSpPr>
        <p:spPr>
          <a:xfrm>
            <a:off x="4425696" y="1920240"/>
            <a:ext cx="7071055" cy="29260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Different human meanings</a:t>
            </a:r>
            <a:endParaRPr lang="en-US" sz="1250" dirty="0"/>
          </a:p>
        </p:txBody>
      </p:sp>
      <p:sp>
        <p:nvSpPr>
          <p:cNvPr id="15" name="Text 13"/>
          <p:cNvSpPr/>
          <p:nvPr/>
        </p:nvSpPr>
        <p:spPr>
          <a:xfrm>
            <a:off x="4462272" y="2231136"/>
            <a:ext cx="6997903" cy="877824"/>
          </a:xfrm>
          <a:prstGeom prst="rect">
            <a:avLst/>
          </a:prstGeom>
          <a:noFill/>
          <a:ln/>
        </p:spPr>
        <p:txBody>
          <a:bodyPr wrap="square" lIns="0" tIns="0" rIns="0" bIns="0" rtlCol="0" anchor="t"/>
          <a:lstStyle/>
          <a:p>
            <a:pPr marL="101600" indent="-101600">
              <a:lnSpc>
                <a:spcPts val="1400"/>
              </a:lnSpc>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Majed: task proof is missing</a:t>
            </a:r>
            <a:endParaRPr lang="en-US" sz="1100" dirty="0"/>
          </a:p>
          <a:p>
            <a:pPr marL="101600" indent="-101600">
              <a:lnSpc>
                <a:spcPts val="1400"/>
              </a:lnSpc>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Alya: post-handover confidence is missing</a:t>
            </a:r>
            <a:endParaRPr lang="en-US" sz="1100" dirty="0"/>
          </a:p>
          <a:p>
            <a:pPr marL="101600" indent="-101600">
              <a:lnSpc>
                <a:spcPts val="1400"/>
              </a:lnSpc>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S3: fallback behavior cuts across both</a:t>
            </a:r>
            <a:endParaRPr lang="en-US" sz="1100" dirty="0"/>
          </a:p>
          <a:p>
            <a:pPr marL="101600" indent="-101600">
              <a:lnSpc>
                <a:spcPts val="1400"/>
              </a:lnSpc>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S4: clear readiness shows what can work</a:t>
            </a:r>
            <a:endParaRPr lang="en-US" sz="1100" dirty="0"/>
          </a:p>
        </p:txBody>
      </p:sp>
      <p:sp>
        <p:nvSpPr>
          <p:cNvPr id="16" name="Shape 14"/>
          <p:cNvSpPr/>
          <p:nvPr/>
        </p:nvSpPr>
        <p:spPr>
          <a:xfrm>
            <a:off x="566928" y="3429000"/>
            <a:ext cx="5373472" cy="1691640"/>
          </a:xfrm>
          <a:prstGeom prst="roundRect">
            <a:avLst>
              <a:gd name="adj" fmla="val 3243"/>
            </a:avLst>
          </a:prstGeom>
          <a:solidFill>
            <a:srgbClr val="FFFFFF"/>
          </a:solidFill>
          <a:ln w="12700">
            <a:solidFill>
              <a:srgbClr val="CBD8EA"/>
            </a:solidFill>
            <a:prstDash val="solid"/>
          </a:ln>
        </p:spPr>
      </p:sp>
      <p:sp>
        <p:nvSpPr>
          <p:cNvPr id="17" name="Shape 15"/>
          <p:cNvSpPr/>
          <p:nvPr/>
        </p:nvSpPr>
        <p:spPr>
          <a:xfrm>
            <a:off x="566928" y="3429000"/>
            <a:ext cx="64008" cy="1691640"/>
          </a:xfrm>
          <a:prstGeom prst="rect">
            <a:avLst/>
          </a:prstGeom>
          <a:solidFill>
            <a:srgbClr val="C8881A"/>
          </a:solidFill>
          <a:ln/>
        </p:spPr>
      </p:sp>
      <p:sp>
        <p:nvSpPr>
          <p:cNvPr id="18" name="Text 16"/>
          <p:cNvSpPr/>
          <p:nvPr/>
        </p:nvSpPr>
        <p:spPr>
          <a:xfrm>
            <a:off x="768096" y="3520440"/>
            <a:ext cx="5044288" cy="29260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What we do not claim</a:t>
            </a:r>
            <a:endParaRPr lang="en-US" sz="1250" dirty="0"/>
          </a:p>
        </p:txBody>
      </p:sp>
      <p:sp>
        <p:nvSpPr>
          <p:cNvPr id="19" name="Text 17"/>
          <p:cNvSpPr/>
          <p:nvPr/>
        </p:nvSpPr>
        <p:spPr>
          <a:xfrm>
            <a:off x="804672" y="3831336"/>
            <a:ext cx="4971136" cy="1197864"/>
          </a:xfrm>
          <a:prstGeom prst="rect">
            <a:avLst/>
          </a:prstGeom>
          <a:noFill/>
          <a:ln/>
        </p:spPr>
        <p:txBody>
          <a:bodyPr wrap="square" lIns="0" tIns="0" rIns="0" bIns="0" rtlCol="0" anchor="t"/>
          <a:lstStyle/>
          <a:p>
            <a:pPr marL="101600" indent="-101600">
              <a:lnSpc>
                <a:spcPts val="1380"/>
              </a:lnSpc>
              <a:spcAft>
                <a:spcPts val="300"/>
              </a:spcAft>
              <a:buSzPct val="100000"/>
              <a:buChar char="•"/>
            </a:pPr>
            <a:r>
              <a:rPr lang="en-US" sz="1080" dirty="0">
                <a:solidFill>
                  <a:srgbClr val="1F2937"/>
                </a:solidFill>
                <a:latin typeface="Calibri" pitchFamily="34" charset="0"/>
                <a:ea typeface="Calibri" pitchFamily="34" charset="-122"/>
                <a:cs typeface="Calibri" pitchFamily="34" charset="-120"/>
              </a:rPr>
              <a:t>These interviews do not estimate persona prevalence</a:t>
            </a:r>
            <a:endParaRPr lang="en-US" sz="1080" dirty="0"/>
          </a:p>
          <a:p>
            <a:pPr marL="101600" indent="-101600">
              <a:lnSpc>
                <a:spcPts val="1380"/>
              </a:lnSpc>
              <a:spcAft>
                <a:spcPts val="300"/>
              </a:spcAft>
              <a:buSzPct val="100000"/>
              <a:buChar char="•"/>
            </a:pPr>
            <a:r>
              <a:rPr lang="en-US" sz="1080" dirty="0">
                <a:solidFill>
                  <a:srgbClr val="1F2937"/>
                </a:solidFill>
                <a:latin typeface="Calibri" pitchFamily="34" charset="0"/>
                <a:ea typeface="Calibri" pitchFamily="34" charset="-122"/>
                <a:cs typeface="Calibri" pitchFamily="34" charset="-120"/>
              </a:rPr>
              <a:t>Pilot OpCo selection and Tamam/Bede signal value remain unresolved from Sprint 3</a:t>
            </a:r>
            <a:endParaRPr lang="en-US" sz="1080" dirty="0"/>
          </a:p>
          <a:p>
            <a:pPr marL="101600" indent="-101600">
              <a:lnSpc>
                <a:spcPts val="1380"/>
              </a:lnSpc>
              <a:spcAft>
                <a:spcPts val="300"/>
              </a:spcAft>
              <a:buSzPct val="100000"/>
              <a:buChar char="•"/>
            </a:pPr>
            <a:r>
              <a:rPr lang="en-US" sz="1080" dirty="0">
                <a:solidFill>
                  <a:srgbClr val="1F2937"/>
                </a:solidFill>
                <a:latin typeface="Calibri" pitchFamily="34" charset="0"/>
                <a:ea typeface="Calibri" pitchFamily="34" charset="-122"/>
                <a:cs typeface="Calibri" pitchFamily="34" charset="-120"/>
              </a:rPr>
              <a:t>BranchConnect is not yet designed in Sprint 4</a:t>
            </a:r>
            <a:endParaRPr lang="en-US" sz="1080" dirty="0"/>
          </a:p>
          <a:p>
            <a:pPr marL="101600" indent="-101600">
              <a:lnSpc>
                <a:spcPts val="1380"/>
              </a:lnSpc>
              <a:spcAft>
                <a:spcPts val="300"/>
              </a:spcAft>
              <a:buSzPct val="100000"/>
              <a:buChar char="•"/>
            </a:pPr>
            <a:r>
              <a:rPr lang="en-US" sz="1080" dirty="0">
                <a:solidFill>
                  <a:srgbClr val="1F2937"/>
                </a:solidFill>
                <a:latin typeface="Calibri" pitchFamily="34" charset="0"/>
                <a:ea typeface="Calibri" pitchFamily="34" charset="-122"/>
                <a:cs typeface="Calibri" pitchFamily="34" charset="-120"/>
              </a:rPr>
              <a:t>Low usage alone is not enough to classify the customer</a:t>
            </a:r>
            <a:endParaRPr lang="en-US" sz="1080" dirty="0"/>
          </a:p>
        </p:txBody>
      </p:sp>
      <p:sp>
        <p:nvSpPr>
          <p:cNvPr id="20" name="Shape 18"/>
          <p:cNvSpPr/>
          <p:nvPr/>
        </p:nvSpPr>
        <p:spPr>
          <a:xfrm>
            <a:off x="6251296" y="3429000"/>
            <a:ext cx="5373472" cy="1691640"/>
          </a:xfrm>
          <a:prstGeom prst="roundRect">
            <a:avLst>
              <a:gd name="adj" fmla="val 3243"/>
            </a:avLst>
          </a:prstGeom>
          <a:solidFill>
            <a:srgbClr val="EAF6EE"/>
          </a:solidFill>
          <a:ln w="12700">
            <a:solidFill>
              <a:srgbClr val="CBD8EA"/>
            </a:solidFill>
            <a:prstDash val="solid"/>
          </a:ln>
        </p:spPr>
      </p:sp>
      <p:sp>
        <p:nvSpPr>
          <p:cNvPr id="21" name="Shape 19"/>
          <p:cNvSpPr/>
          <p:nvPr/>
        </p:nvSpPr>
        <p:spPr>
          <a:xfrm>
            <a:off x="6251296" y="3429000"/>
            <a:ext cx="64008" cy="1691640"/>
          </a:xfrm>
          <a:prstGeom prst="rect">
            <a:avLst/>
          </a:prstGeom>
          <a:solidFill>
            <a:srgbClr val="2E8B57"/>
          </a:solidFill>
          <a:ln/>
        </p:spPr>
      </p:sp>
      <p:sp>
        <p:nvSpPr>
          <p:cNvPr id="22" name="Text 20"/>
          <p:cNvSpPr/>
          <p:nvPr/>
        </p:nvSpPr>
        <p:spPr>
          <a:xfrm>
            <a:off x="6452464" y="3520440"/>
            <a:ext cx="5044288" cy="29260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The decision</a:t>
            </a:r>
            <a:endParaRPr lang="en-US" sz="1250" dirty="0"/>
          </a:p>
        </p:txBody>
      </p:sp>
      <p:sp>
        <p:nvSpPr>
          <p:cNvPr id="23" name="Text 21"/>
          <p:cNvSpPr/>
          <p:nvPr/>
        </p:nvSpPr>
        <p:spPr>
          <a:xfrm>
            <a:off x="6489040" y="3831336"/>
            <a:ext cx="4971136" cy="1197864"/>
          </a:xfrm>
          <a:prstGeom prst="rect">
            <a:avLst/>
          </a:prstGeom>
          <a:noFill/>
          <a:ln/>
        </p:spPr>
        <p:txBody>
          <a:bodyPr wrap="square" lIns="0" tIns="0" rIns="0" bIns="0" rtlCol="0" anchor="t"/>
          <a:lstStyle/>
          <a:p>
            <a:pPr indent="0" marL="0">
              <a:lnSpc>
                <a:spcPts val="1380"/>
              </a:lnSpc>
              <a:spcAft>
                <a:spcPts val="300"/>
              </a:spcAft>
              <a:buNone/>
            </a:pPr>
            <a:r>
              <a:rPr lang="en-US" sz="1080" dirty="0">
                <a:solidFill>
                  <a:srgbClr val="1F2937"/>
                </a:solidFill>
                <a:latin typeface="Calibri" pitchFamily="34" charset="0"/>
                <a:ea typeface="Calibri" pitchFamily="34" charset="-122"/>
                <a:cs typeface="Calibri" pitchFamily="34" charset="-120"/>
              </a:rPr>
              <a:t>Majed remains the primary persona because S1 had the strongest SPA priority. Alya remains because S2 showed a distinct failure mechanism after assisted setup. S3 and S4 are used as pattern and boundary evidence, not as extra personas.</a:t>
            </a:r>
            <a:endParaRPr lang="en-US" sz="1080" dirty="0"/>
          </a:p>
        </p:txBody>
      </p:sp>
      <p:sp>
        <p:nvSpPr>
          <p:cNvPr id="24" name="Shape 22"/>
          <p:cNvSpPr/>
          <p:nvPr/>
        </p:nvSpPr>
        <p:spPr>
          <a:xfrm>
            <a:off x="566928" y="5349240"/>
            <a:ext cx="11057839" cy="868680"/>
          </a:xfrm>
          <a:prstGeom prst="roundRect">
            <a:avLst>
              <a:gd name="adj" fmla="val 6316"/>
            </a:avLst>
          </a:prstGeom>
          <a:solidFill>
            <a:srgbClr val="E3ECF7"/>
          </a:solidFill>
          <a:ln w="12700">
            <a:solidFill>
              <a:srgbClr val="1F3864"/>
            </a:solidFill>
            <a:prstDash val="solid"/>
          </a:ln>
        </p:spPr>
      </p:sp>
      <p:sp>
        <p:nvSpPr>
          <p:cNvPr id="25" name="Text 23"/>
          <p:cNvSpPr/>
          <p:nvPr/>
        </p:nvSpPr>
        <p:spPr>
          <a:xfrm>
            <a:off x="768096" y="5404104"/>
            <a:ext cx="10692079" cy="758952"/>
          </a:xfrm>
          <a:prstGeom prst="rect">
            <a:avLst/>
          </a:prstGeom>
          <a:noFill/>
          <a:ln/>
        </p:spPr>
        <p:txBody>
          <a:bodyPr wrap="square" lIns="0" tIns="0" rIns="0" bIns="0" rtlCol="0" anchor="ctr"/>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Sprint 4 output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Two clear archetypes, two empathy maps and two customer-profile circles. The solution remains open for Sprint 5.</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Team Unity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 Archetype — Deliverable 4.1</dc:title>
  <dc:subject>Zain BranchConnect — Capstone Sprint 4</dc:subject>
  <dc:creator>Team Unity</dc:creator>
  <cp:lastModifiedBy>Team Unity</cp:lastModifiedBy>
  <cp:revision>1</cp:revision>
  <dcterms:created xsi:type="dcterms:W3CDTF">2026-09-08T13:26:29Z</dcterms:created>
  <dcterms:modified xsi:type="dcterms:W3CDTF">2026-09-08T13:26:29Z</dcterms:modified>
</cp:coreProperties>
</file>