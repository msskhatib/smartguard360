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10881360" y="640080"/>
            <a:ext cx="502920" cy="502920"/>
          </a:xfrm>
          <a:prstGeom prst="ellipse">
            <a:avLst/>
          </a:prstGeom>
          <a:ln w="25400">
            <a:solidFill>
              <a:srgbClr val="0E8FCF"/>
            </a:solidFill>
            <a:prstDash val="solid"/>
          </a:ln>
        </p:spPr>
      </p:sp>
      <p:sp>
        <p:nvSpPr>
          <p:cNvPr id="3" name="Shape 1"/>
          <p:cNvSpPr/>
          <p:nvPr/>
        </p:nvSpPr>
        <p:spPr>
          <a:xfrm>
            <a:off x="11430000" y="1051560"/>
            <a:ext cx="365760" cy="365760"/>
          </a:xfrm>
          <a:prstGeom prst="ellipse">
            <a:avLst/>
          </a:prstGeom>
          <a:ln w="25400">
            <a:solidFill>
              <a:srgbClr val="0E8FCF"/>
            </a:solidFill>
            <a:prstDash val="solid"/>
          </a:ln>
        </p:spPr>
      </p:sp>
      <p:sp>
        <p:nvSpPr>
          <p:cNvPr id="4" name="Shape 2"/>
          <p:cNvSpPr/>
          <p:nvPr/>
        </p:nvSpPr>
        <p:spPr>
          <a:xfrm>
            <a:off x="10515600" y="1234440"/>
            <a:ext cx="310896" cy="310896"/>
          </a:xfrm>
          <a:prstGeom prst="ellipse">
            <a:avLst/>
          </a:prstGeom>
          <a:ln w="25400">
            <a:solidFill>
              <a:srgbClr val="0E8FCF"/>
            </a:solidFill>
            <a:prstDash val="solid"/>
          </a:ln>
        </p:spPr>
      </p:sp>
      <p:sp>
        <p:nvSpPr>
          <p:cNvPr id="5" name="Shape 3"/>
          <p:cNvSpPr/>
          <p:nvPr/>
        </p:nvSpPr>
        <p:spPr>
          <a:xfrm>
            <a:off x="11475720" y="411480"/>
            <a:ext cx="274320" cy="274320"/>
          </a:xfrm>
          <a:prstGeom prst="ellipse">
            <a:avLst/>
          </a:prstGeom>
          <a:ln w="25400">
            <a:solidFill>
              <a:srgbClr val="0E8FCF"/>
            </a:solidFill>
            <a:prstDash val="solid"/>
          </a:ln>
        </p:spPr>
      </p:sp>
      <p:sp>
        <p:nvSpPr>
          <p:cNvPr id="6" name="Shape 4"/>
          <p:cNvSpPr/>
          <p:nvPr/>
        </p:nvSpPr>
        <p:spPr>
          <a:xfrm>
            <a:off x="10195560" y="868680"/>
            <a:ext cx="237744" cy="237744"/>
          </a:xfrm>
          <a:prstGeom prst="ellipse">
            <a:avLst/>
          </a:prstGeom>
          <a:ln w="25400">
            <a:solidFill>
              <a:srgbClr val="0E8FCF"/>
            </a:solidFill>
            <a:prstDash val="solid"/>
          </a:ln>
        </p:spPr>
      </p:sp>
      <p:sp>
        <p:nvSpPr>
          <p:cNvPr id="7" name="Shape 5"/>
          <p:cNvSpPr/>
          <p:nvPr/>
        </p:nvSpPr>
        <p:spPr>
          <a:xfrm>
            <a:off x="11109960" y="1554480"/>
            <a:ext cx="256032" cy="256032"/>
          </a:xfrm>
          <a:prstGeom prst="ellipse">
            <a:avLst/>
          </a:prstGeom>
          <a:ln w="25400">
            <a:solidFill>
              <a:srgbClr val="0E8FCF"/>
            </a:solidFill>
            <a:prstDash val="solid"/>
          </a:ln>
        </p:spPr>
      </p:sp>
      <p:sp>
        <p:nvSpPr>
          <p:cNvPr id="8" name="Shape 6"/>
          <p:cNvSpPr/>
          <p:nvPr/>
        </p:nvSpPr>
        <p:spPr>
          <a:xfrm>
            <a:off x="11750040" y="1417320"/>
            <a:ext cx="201168" cy="201168"/>
          </a:xfrm>
          <a:prstGeom prst="ellipse">
            <a:avLst/>
          </a:prstGeom>
          <a:ln w="25400">
            <a:solidFill>
              <a:srgbClr val="0E8FCF"/>
            </a:solidFill>
            <a:prstDash val="solid"/>
          </a:ln>
        </p:spPr>
      </p:sp>
      <p:sp>
        <p:nvSpPr>
          <p:cNvPr id="9" name="Text 7"/>
          <p:cNvSpPr/>
          <p:nvPr/>
        </p:nvSpPr>
        <p:spPr>
          <a:xfrm>
            <a:off x="566928" y="548640"/>
            <a:ext cx="8686800" cy="274320"/>
          </a:xfrm>
          <a:prstGeom prst="rect">
            <a:avLst/>
          </a:prstGeom>
          <a:noFill/>
          <a:ln/>
        </p:spPr>
        <p:txBody>
          <a:bodyPr wrap="square" lIns="0" tIns="0" rIns="0" bIns="0" rtlCol="0" anchor="ctr"/>
          <a:lstStyle/>
          <a:p>
            <a:pPr indent="0" marL="0">
              <a:buNone/>
            </a:pPr>
            <a:r>
              <a:rPr lang="en-US" sz="1200" b="1" spc="200" kern="0" dirty="0">
                <a:solidFill>
                  <a:srgbClr val="5EB6E4"/>
                </a:solidFill>
                <a:latin typeface="Calibri" pitchFamily="34" charset="0"/>
                <a:ea typeface="Calibri" pitchFamily="34" charset="-122"/>
                <a:cs typeface="Calibri" pitchFamily="34" charset="-120"/>
              </a:rPr>
              <a:t>ZMDT × IE BUSINESS SCHOOL   ·   MODULE 4 CAPSTONE</a:t>
            </a:r>
            <a:endParaRPr lang="en-US" sz="1200" dirty="0"/>
          </a:p>
        </p:txBody>
      </p:sp>
      <p:sp>
        <p:nvSpPr>
          <p:cNvPr id="10" name="Text 8"/>
          <p:cNvSpPr/>
          <p:nvPr/>
        </p:nvSpPr>
        <p:spPr>
          <a:xfrm>
            <a:off x="6309360" y="512064"/>
            <a:ext cx="3108960" cy="320040"/>
          </a:xfrm>
          <a:prstGeom prst="rect">
            <a:avLst/>
          </a:prstGeom>
          <a:noFill/>
          <a:ln/>
        </p:spPr>
        <p:txBody>
          <a:bodyPr wrap="square" lIns="0" tIns="0" rIns="0" bIns="0" rtlCol="0" anchor="ctr"/>
          <a:lstStyle/>
          <a:p>
            <a:pPr algn="r" indent="0" marL="0">
              <a:buNone/>
            </a:pPr>
            <a:r>
              <a:rPr lang="en-US" sz="1500" dirty="0">
                <a:solidFill>
                  <a:srgbClr val="5EB6E4"/>
                </a:solidFill>
                <a:latin typeface="Calibri" pitchFamily="34" charset="0"/>
                <a:ea typeface="Calibri" pitchFamily="34" charset="-122"/>
                <a:cs typeface="Calibri" pitchFamily="34" charset="-120"/>
              </a:rPr>
              <a:t>September 2026</a:t>
            </a:r>
            <a:endParaRPr lang="en-US" sz="1500" dirty="0"/>
          </a:p>
        </p:txBody>
      </p:sp>
      <p:sp>
        <p:nvSpPr>
          <p:cNvPr id="11" name="Text 9"/>
          <p:cNvSpPr/>
          <p:nvPr/>
        </p:nvSpPr>
        <p:spPr>
          <a:xfrm>
            <a:off x="566928" y="1371600"/>
            <a:ext cx="10789920" cy="137160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libri" pitchFamily="34" charset="0"/>
                <a:ea typeface="Calibri" pitchFamily="34" charset="-122"/>
                <a:cs typeface="Calibri" pitchFamily="34" charset="-120"/>
              </a:rPr>
              <a:t>Empathy Map</a:t>
            </a:r>
            <a:endParaRPr lang="en-US" sz="4600" dirty="0"/>
          </a:p>
        </p:txBody>
      </p:sp>
      <p:sp>
        <p:nvSpPr>
          <p:cNvPr id="12" name="Text 10"/>
          <p:cNvSpPr/>
          <p:nvPr/>
        </p:nvSpPr>
        <p:spPr>
          <a:xfrm>
            <a:off x="566928" y="2926080"/>
            <a:ext cx="10515600" cy="365760"/>
          </a:xfrm>
          <a:prstGeom prst="rect">
            <a:avLst/>
          </a:prstGeom>
          <a:noFill/>
          <a:ln/>
        </p:spPr>
        <p:txBody>
          <a:bodyPr wrap="square" lIns="0" tIns="0" rIns="0" bIns="0" rtlCol="0" anchor="ctr"/>
          <a:lstStyle/>
          <a:p>
            <a:pPr indent="0" marL="0">
              <a:buNone/>
            </a:pPr>
            <a:r>
              <a:rPr lang="en-US" sz="1600" dirty="0">
                <a:solidFill>
                  <a:srgbClr val="5EB6E4"/>
                </a:solidFill>
                <a:latin typeface="Calibri" pitchFamily="34" charset="0"/>
                <a:ea typeface="Calibri" pitchFamily="34" charset="-122"/>
                <a:cs typeface="Calibri" pitchFamily="34" charset="-120"/>
              </a:rPr>
              <a:t>Deliverable 4.2  ·  Capstone Sprint 4  ·  Zain BranchConnect</a:t>
            </a:r>
            <a:endParaRPr lang="en-US" sz="1600" dirty="0"/>
          </a:p>
        </p:txBody>
      </p:sp>
      <p:sp>
        <p:nvSpPr>
          <p:cNvPr id="13" name="Shape 11"/>
          <p:cNvSpPr/>
          <p:nvPr/>
        </p:nvSpPr>
        <p:spPr>
          <a:xfrm>
            <a:off x="566928" y="3611880"/>
            <a:ext cx="82296" cy="685800"/>
          </a:xfrm>
          <a:prstGeom prst="rect">
            <a:avLst/>
          </a:prstGeom>
          <a:solidFill>
            <a:srgbClr val="0E8FCF"/>
          </a:solidFill>
          <a:ln/>
        </p:spPr>
      </p:sp>
      <p:sp>
        <p:nvSpPr>
          <p:cNvPr id="14" name="Text 12"/>
          <p:cNvSpPr/>
          <p:nvPr/>
        </p:nvSpPr>
        <p:spPr>
          <a:xfrm>
            <a:off x="822960" y="3566160"/>
            <a:ext cx="8229600" cy="749808"/>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TEAM UNITY</a:t>
            </a:r>
            <a:endParaRPr lang="en-US" sz="4200" dirty="0"/>
          </a:p>
        </p:txBody>
      </p:sp>
      <p:sp>
        <p:nvSpPr>
          <p:cNvPr id="15" name="Text 13"/>
          <p:cNvSpPr/>
          <p:nvPr/>
        </p:nvSpPr>
        <p:spPr>
          <a:xfrm>
            <a:off x="566928" y="4572000"/>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Course: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[ZN-CAP-23F1M4S9] ZMDT 2023 Fast Track 1 Capstone Course</a:t>
            </a:r>
            <a:endParaRPr lang="en-US" sz="1200" dirty="0"/>
          </a:p>
        </p:txBody>
      </p:sp>
      <p:sp>
        <p:nvSpPr>
          <p:cNvPr id="16" name="Text 14"/>
          <p:cNvSpPr/>
          <p:nvPr/>
        </p:nvSpPr>
        <p:spPr>
          <a:xfrm>
            <a:off x="566928" y="4910328"/>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Professor: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Valentin Garcia Alcocer</a:t>
            </a:r>
            <a:endParaRPr lang="en-US" sz="1200" dirty="0"/>
          </a:p>
        </p:txBody>
      </p:sp>
      <p:sp>
        <p:nvSpPr>
          <p:cNvPr id="17" name="Text 15"/>
          <p:cNvSpPr/>
          <p:nvPr/>
        </p:nvSpPr>
        <p:spPr>
          <a:xfrm>
            <a:off x="566928" y="5248656"/>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Tutor: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Pablo Valcárcel Castro</a:t>
            </a:r>
            <a:endParaRPr lang="en-US" sz="1200" dirty="0"/>
          </a:p>
        </p:txBody>
      </p:sp>
      <p:sp>
        <p:nvSpPr>
          <p:cNvPr id="18" name="Text 16"/>
          <p:cNvSpPr/>
          <p:nvPr/>
        </p:nvSpPr>
        <p:spPr>
          <a:xfrm>
            <a:off x="566928" y="5586984"/>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Students: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Abdullah Alshehri · Azza Fadul AbdelMannan Elfaki · Lara Haddad · Mohammad Alkhatib · Mohammed Almaimani · Sahar Ehsan</a:t>
            </a:r>
            <a:endParaRPr lang="en-US" sz="1200" dirty="0"/>
          </a:p>
        </p:txBody>
      </p:sp>
      <p:sp>
        <p:nvSpPr>
          <p:cNvPr id="19" name="Text 17"/>
          <p:cNvSpPr/>
          <p:nvPr/>
        </p:nvSpPr>
        <p:spPr>
          <a:xfrm>
            <a:off x="566928" y="6053328"/>
            <a:ext cx="11064240" cy="640080"/>
          </a:xfrm>
          <a:prstGeom prst="rect">
            <a:avLst/>
          </a:prstGeom>
          <a:noFill/>
          <a:ln/>
        </p:spPr>
        <p:txBody>
          <a:bodyPr wrap="square" lIns="0" tIns="0" rIns="0" bIns="0" rtlCol="0" anchor="t"/>
          <a:lstStyle/>
          <a:p>
            <a:pPr indent="0" marL="0">
              <a:lnSpc>
                <a:spcPts val="1200"/>
              </a:lnSpc>
              <a:buNone/>
            </a:pPr>
            <a:r>
              <a:rPr lang="en-US" sz="950" i="1" dirty="0">
                <a:solidFill>
                  <a:srgbClr val="9AA3AF"/>
                </a:solidFill>
                <a:latin typeface="Calibri" pitchFamily="34" charset="0"/>
                <a:ea typeface="Calibri" pitchFamily="34" charset="-122"/>
                <a:cs typeface="Calibri" pitchFamily="34" charset="-120"/>
              </a:rPr>
              <a:t>AI Acknowledgment: Generative AI tools (Claude and ChatGPT) were used to support drafting, organization, formatting, and language refinement of this deliverable according to the course template. The opportunity identification, evaluation, strategic choices, internal assumptions, and final validation remain the team’s own work, and the team takes full responsibility for the accuracy, integrity, and originality of the content.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56032"/>
          </a:xfrm>
          <a:prstGeom prst="rect">
            <a:avLst/>
          </a:prstGeom>
          <a:noFill/>
          <a:ln/>
        </p:spPr>
        <p:txBody>
          <a:bodyPr wrap="square" lIns="0" tIns="0" rIns="0" bIns="0" rtlCol="0" anchor="ctr"/>
          <a:lstStyle/>
          <a:p>
            <a:pPr indent="0" marL="0">
              <a:buNone/>
            </a:pPr>
            <a:r>
              <a:rPr lang="en-US" sz="1150" b="1" spc="250" kern="0" dirty="0">
                <a:solidFill>
                  <a:srgbClr val="0E8FCF"/>
                </a:solidFill>
                <a:latin typeface="Calibri" pitchFamily="34" charset="0"/>
                <a:ea typeface="Calibri" pitchFamily="34" charset="-122"/>
                <a:cs typeface="Calibri" pitchFamily="34" charset="-120"/>
              </a:rPr>
              <a:t>EMPATHY MAP</a:t>
            </a:r>
            <a:endParaRPr lang="en-US" sz="1150" dirty="0"/>
          </a:p>
        </p:txBody>
      </p:sp>
      <p:sp>
        <p:nvSpPr>
          <p:cNvPr id="3" name="Text 1"/>
          <p:cNvSpPr/>
          <p:nvPr/>
        </p:nvSpPr>
        <p:spPr>
          <a:xfrm>
            <a:off x="566928" y="640080"/>
            <a:ext cx="11057839" cy="621792"/>
          </a:xfrm>
          <a:prstGeom prst="rect">
            <a:avLst/>
          </a:prstGeom>
          <a:noFill/>
          <a:ln/>
        </p:spPr>
        <p:txBody>
          <a:bodyPr wrap="square" lIns="0" tIns="0" rIns="0" bIns="0" rtlCol="0" anchor="t"/>
          <a:lstStyle/>
          <a:p>
            <a:pPr indent="0" marL="0">
              <a:lnSpc>
                <a:spcPts val="2700"/>
              </a:lnSpc>
              <a:buNone/>
            </a:pPr>
            <a:r>
              <a:rPr lang="en-US" sz="2400" b="1" dirty="0">
                <a:solidFill>
                  <a:srgbClr val="1F3864"/>
                </a:solidFill>
                <a:latin typeface="Calibri" pitchFamily="34" charset="0"/>
                <a:ea typeface="Calibri" pitchFamily="34" charset="-122"/>
                <a:cs typeface="Calibri" pitchFamily="34" charset="-120"/>
              </a:rPr>
              <a:t>Empathy Map: Majed</a:t>
            </a:r>
            <a:endParaRPr lang="en-US" sz="2400" dirty="0"/>
          </a:p>
        </p:txBody>
      </p:sp>
      <p:sp>
        <p:nvSpPr>
          <p:cNvPr id="4" name="Shape 2"/>
          <p:cNvSpPr/>
          <p:nvPr/>
        </p:nvSpPr>
        <p:spPr>
          <a:xfrm>
            <a:off x="566928" y="1261872"/>
            <a:ext cx="777240" cy="45720"/>
          </a:xfrm>
          <a:prstGeom prst="rect">
            <a:avLst/>
          </a:prstGeom>
          <a:solidFill>
            <a:srgbClr val="0E8FCF"/>
          </a:solidFill>
          <a:ln/>
        </p:spPr>
      </p:sp>
      <p:sp>
        <p:nvSpPr>
          <p:cNvPr id="5" name="Text 3"/>
          <p:cNvSpPr/>
          <p:nvPr/>
        </p:nvSpPr>
        <p:spPr>
          <a:xfrm>
            <a:off x="566928" y="6464808"/>
            <a:ext cx="10058400" cy="237744"/>
          </a:xfrm>
          <a:prstGeom prst="rect">
            <a:avLst/>
          </a:prstGeom>
          <a:noFill/>
          <a:ln/>
        </p:spPr>
        <p:txBody>
          <a:bodyPr wrap="square" lIns="0" tIns="0" rIns="0" bIns="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TEAM UNITY</a:t>
            </a:r>
            <a:pPr indent="0" marL="0">
              <a:buNone/>
            </a:pPr>
            <a:r>
              <a:rPr lang="en-US" sz="900" dirty="0">
                <a:solidFill>
                  <a:srgbClr val="6B7280"/>
                </a:solidFill>
                <a:latin typeface="Calibri" pitchFamily="34" charset="0"/>
                <a:ea typeface="Calibri" pitchFamily="34" charset="-122"/>
                <a:cs typeface="Calibri" pitchFamily="34" charset="-120"/>
              </a:rPr>
              <a:t>   ·   Sprint 4 · 4.2 Empathy Map</a:t>
            </a:r>
            <a:endParaRPr lang="en-US" sz="900" dirty="0"/>
          </a:p>
        </p:txBody>
      </p:sp>
      <p:sp>
        <p:nvSpPr>
          <p:cNvPr id="6" name="Text 4"/>
          <p:cNvSpPr/>
          <p:nvPr/>
        </p:nvSpPr>
        <p:spPr>
          <a:xfrm>
            <a:off x="11140135" y="6464808"/>
            <a:ext cx="54864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4</a:t>
            </a:r>
            <a:endParaRPr lang="en-US" sz="900" dirty="0"/>
          </a:p>
        </p:txBody>
      </p:sp>
      <p:pic>
        <p:nvPicPr>
          <p:cNvPr id="7" name="Image 0" descr="/tmp/avatar_majed.png">    </p:cNvPr>
          <p:cNvPicPr>
            <a:picLocks noChangeAspect="1"/>
          </p:cNvPicPr>
          <p:nvPr/>
        </p:nvPicPr>
        <p:blipFill>
          <a:blip r:embed="rId1"/>
          <a:stretch>
            <a:fillRect/>
          </a:stretch>
        </p:blipFill>
        <p:spPr>
          <a:xfrm>
            <a:off x="566928" y="1371600"/>
            <a:ext cx="777240" cy="777240"/>
          </a:xfrm>
          <a:prstGeom prst="rect">
            <a:avLst/>
          </a:prstGeom>
        </p:spPr>
      </p:pic>
      <p:sp>
        <p:nvSpPr>
          <p:cNvPr id="8" name="Text 5"/>
          <p:cNvSpPr/>
          <p:nvPr/>
        </p:nvSpPr>
        <p:spPr>
          <a:xfrm>
            <a:off x="1481328" y="1371600"/>
            <a:ext cx="10143439" cy="777240"/>
          </a:xfrm>
          <a:prstGeom prst="rect">
            <a:avLst/>
          </a:prstGeom>
          <a:noFill/>
          <a:ln/>
        </p:spPr>
        <p:txBody>
          <a:bodyPr wrap="square" lIns="0" tIns="0" rIns="0" bIns="0" rtlCol="0" anchor="ctr"/>
          <a:lstStyle/>
          <a:p>
            <a:pPr indent="0" marL="0">
              <a:lnSpc>
                <a:spcPts val="1400"/>
              </a:lnSpc>
              <a:buNone/>
            </a:pPr>
            <a:r>
              <a:rPr lang="en-US" sz="1100" i="1" dirty="0">
                <a:solidFill>
                  <a:srgbClr val="6B7280"/>
                </a:solidFill>
                <a:latin typeface="Calibri" pitchFamily="34" charset="0"/>
                <a:ea typeface="Calibri" pitchFamily="34" charset="-122"/>
                <a:cs typeface="Calibri" pitchFamily="34" charset="-120"/>
              </a:rPr>
              <a:t>How the primary persona experiences first-use uncertainty.   </a:t>
            </a:r>
            <a:pPr indent="0" marL="0">
              <a:lnSpc>
                <a:spcPts val="1400"/>
              </a:lnSpc>
              <a:buNone/>
            </a:pPr>
            <a:r>
              <a:rPr lang="en-US" sz="1100" i="1" dirty="0">
                <a:solidFill>
                  <a:srgbClr val="2F5496"/>
                </a:solidFill>
                <a:latin typeface="Calibri" pitchFamily="34" charset="0"/>
                <a:ea typeface="Calibri" pitchFamily="34" charset="-122"/>
                <a:cs typeface="Calibri" pitchFamily="34" charset="-120"/>
              </a:rPr>
              <a:t>“If it does not work in the first ten minutes, I move on.” · BC-01</a:t>
            </a:r>
            <a:endParaRPr lang="en-US" sz="1100" dirty="0"/>
          </a:p>
        </p:txBody>
      </p:sp>
      <p:sp>
        <p:nvSpPr>
          <p:cNvPr id="9" name="Shape 6"/>
          <p:cNvSpPr/>
          <p:nvPr/>
        </p:nvSpPr>
        <p:spPr>
          <a:xfrm>
            <a:off x="566928" y="2240280"/>
            <a:ext cx="3490874" cy="1664208"/>
          </a:xfrm>
          <a:prstGeom prst="roundRect">
            <a:avLst>
              <a:gd name="adj" fmla="val 3297"/>
            </a:avLst>
          </a:prstGeom>
          <a:solidFill>
            <a:srgbClr val="FFFFFF"/>
          </a:solidFill>
          <a:ln w="12700">
            <a:solidFill>
              <a:srgbClr val="CBD8EA"/>
            </a:solidFill>
            <a:prstDash val="solid"/>
          </a:ln>
        </p:spPr>
      </p:sp>
      <p:sp>
        <p:nvSpPr>
          <p:cNvPr id="10" name="Shape 7"/>
          <p:cNvSpPr/>
          <p:nvPr/>
        </p:nvSpPr>
        <p:spPr>
          <a:xfrm>
            <a:off x="566928" y="2240280"/>
            <a:ext cx="64008" cy="1664208"/>
          </a:xfrm>
          <a:prstGeom prst="rect">
            <a:avLst/>
          </a:prstGeom>
          <a:solidFill>
            <a:srgbClr val="0E8FCF"/>
          </a:solidFill>
          <a:ln/>
        </p:spPr>
      </p:sp>
      <p:sp>
        <p:nvSpPr>
          <p:cNvPr id="11" name="Text 8"/>
          <p:cNvSpPr/>
          <p:nvPr/>
        </p:nvSpPr>
        <p:spPr>
          <a:xfrm>
            <a:off x="768096" y="2331720"/>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THINK &amp; FEEL</a:t>
            </a:r>
            <a:endParaRPr lang="en-US" sz="1150" dirty="0"/>
          </a:p>
        </p:txBody>
      </p:sp>
      <p:sp>
        <p:nvSpPr>
          <p:cNvPr id="12" name="Text 9"/>
          <p:cNvSpPr/>
          <p:nvPr/>
        </p:nvSpPr>
        <p:spPr>
          <a:xfrm>
            <a:off x="804672" y="2642616"/>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Is this line really ready?</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Can I trust it for the task that matters?</a:t>
            </a:r>
            <a:endParaRPr lang="en-US" sz="1050" dirty="0"/>
          </a:p>
        </p:txBody>
      </p:sp>
      <p:sp>
        <p:nvSpPr>
          <p:cNvPr id="13" name="Shape 10"/>
          <p:cNvSpPr/>
          <p:nvPr/>
        </p:nvSpPr>
        <p:spPr>
          <a:xfrm>
            <a:off x="4350410" y="2240280"/>
            <a:ext cx="3490874" cy="1664208"/>
          </a:xfrm>
          <a:prstGeom prst="roundRect">
            <a:avLst>
              <a:gd name="adj" fmla="val 3297"/>
            </a:avLst>
          </a:prstGeom>
          <a:solidFill>
            <a:srgbClr val="FFFFFF"/>
          </a:solidFill>
          <a:ln w="12700">
            <a:solidFill>
              <a:srgbClr val="CBD8EA"/>
            </a:solidFill>
            <a:prstDash val="solid"/>
          </a:ln>
        </p:spPr>
      </p:sp>
      <p:sp>
        <p:nvSpPr>
          <p:cNvPr id="14" name="Shape 11"/>
          <p:cNvSpPr/>
          <p:nvPr/>
        </p:nvSpPr>
        <p:spPr>
          <a:xfrm>
            <a:off x="4350410" y="2240280"/>
            <a:ext cx="64008" cy="1664208"/>
          </a:xfrm>
          <a:prstGeom prst="rect">
            <a:avLst/>
          </a:prstGeom>
          <a:solidFill>
            <a:srgbClr val="2E86AB"/>
          </a:solidFill>
          <a:ln/>
        </p:spPr>
      </p:sp>
      <p:sp>
        <p:nvSpPr>
          <p:cNvPr id="15" name="Text 12"/>
          <p:cNvSpPr/>
          <p:nvPr/>
        </p:nvSpPr>
        <p:spPr>
          <a:xfrm>
            <a:off x="4551578" y="2331720"/>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HEAR</a:t>
            </a:r>
            <a:endParaRPr lang="en-US" sz="1150" dirty="0"/>
          </a:p>
        </p:txBody>
      </p:sp>
      <p:sp>
        <p:nvSpPr>
          <p:cNvPr id="16" name="Text 13"/>
          <p:cNvSpPr/>
          <p:nvPr/>
        </p:nvSpPr>
        <p:spPr>
          <a:xfrm>
            <a:off x="4588154" y="2642616"/>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Your line is active.</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Promotional value promises.</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Friends recommend a line for gaming, streaming or other specific needs.</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Support may repeat general guidance.</a:t>
            </a:r>
            <a:endParaRPr lang="en-US" sz="1050" dirty="0"/>
          </a:p>
        </p:txBody>
      </p:sp>
      <p:sp>
        <p:nvSpPr>
          <p:cNvPr id="17" name="Shape 14"/>
          <p:cNvSpPr/>
          <p:nvPr/>
        </p:nvSpPr>
        <p:spPr>
          <a:xfrm>
            <a:off x="8133893" y="2240280"/>
            <a:ext cx="3490874" cy="1664208"/>
          </a:xfrm>
          <a:prstGeom prst="roundRect">
            <a:avLst>
              <a:gd name="adj" fmla="val 3297"/>
            </a:avLst>
          </a:prstGeom>
          <a:solidFill>
            <a:srgbClr val="FFFFFF"/>
          </a:solidFill>
          <a:ln w="12700">
            <a:solidFill>
              <a:srgbClr val="CBD8EA"/>
            </a:solidFill>
            <a:prstDash val="solid"/>
          </a:ln>
        </p:spPr>
      </p:sp>
      <p:sp>
        <p:nvSpPr>
          <p:cNvPr id="18" name="Shape 15"/>
          <p:cNvSpPr/>
          <p:nvPr/>
        </p:nvSpPr>
        <p:spPr>
          <a:xfrm>
            <a:off x="8133893" y="2240280"/>
            <a:ext cx="64008" cy="1664208"/>
          </a:xfrm>
          <a:prstGeom prst="rect">
            <a:avLst/>
          </a:prstGeom>
          <a:solidFill>
            <a:srgbClr val="2F5496"/>
          </a:solidFill>
          <a:ln/>
        </p:spPr>
      </p:sp>
      <p:sp>
        <p:nvSpPr>
          <p:cNvPr id="19" name="Text 16"/>
          <p:cNvSpPr/>
          <p:nvPr/>
        </p:nvSpPr>
        <p:spPr>
          <a:xfrm>
            <a:off x="8335061" y="2331720"/>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SEE</a:t>
            </a:r>
            <a:endParaRPr lang="en-US" sz="1150" dirty="0"/>
          </a:p>
        </p:txBody>
      </p:sp>
      <p:sp>
        <p:nvSpPr>
          <p:cNvPr id="20" name="Text 17"/>
          <p:cNvSpPr/>
          <p:nvPr/>
        </p:nvSpPr>
        <p:spPr>
          <a:xfrm>
            <a:off x="8371637" y="2642616"/>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Signal or app status says active.</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OTP, data or app task still uncertain.</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Old SIM and Wi-Fi already work.</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Old SIM or Wi-Fi is easier than looking for help.</a:t>
            </a:r>
            <a:endParaRPr lang="en-US" sz="1050" dirty="0"/>
          </a:p>
        </p:txBody>
      </p:sp>
      <p:sp>
        <p:nvSpPr>
          <p:cNvPr id="21" name="Shape 18"/>
          <p:cNvSpPr/>
          <p:nvPr/>
        </p:nvSpPr>
        <p:spPr>
          <a:xfrm>
            <a:off x="566928" y="4142232"/>
            <a:ext cx="3490874" cy="1664208"/>
          </a:xfrm>
          <a:prstGeom prst="roundRect">
            <a:avLst>
              <a:gd name="adj" fmla="val 3297"/>
            </a:avLst>
          </a:prstGeom>
          <a:solidFill>
            <a:srgbClr val="FFFFFF"/>
          </a:solidFill>
          <a:ln w="12700">
            <a:solidFill>
              <a:srgbClr val="CBD8EA"/>
            </a:solidFill>
            <a:prstDash val="solid"/>
          </a:ln>
        </p:spPr>
      </p:sp>
      <p:sp>
        <p:nvSpPr>
          <p:cNvPr id="22" name="Shape 19"/>
          <p:cNvSpPr/>
          <p:nvPr/>
        </p:nvSpPr>
        <p:spPr>
          <a:xfrm>
            <a:off x="566928" y="4142232"/>
            <a:ext cx="64008" cy="1664208"/>
          </a:xfrm>
          <a:prstGeom prst="rect">
            <a:avLst/>
          </a:prstGeom>
          <a:solidFill>
            <a:srgbClr val="2E8B57"/>
          </a:solidFill>
          <a:ln/>
        </p:spPr>
      </p:sp>
      <p:sp>
        <p:nvSpPr>
          <p:cNvPr id="23" name="Text 20"/>
          <p:cNvSpPr/>
          <p:nvPr/>
        </p:nvSpPr>
        <p:spPr>
          <a:xfrm>
            <a:off x="768096" y="4233672"/>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SAY &amp; DO</a:t>
            </a:r>
            <a:endParaRPr lang="en-US" sz="1150" dirty="0"/>
          </a:p>
        </p:txBody>
      </p:sp>
      <p:sp>
        <p:nvSpPr>
          <p:cNvPr id="24" name="Text 21"/>
          <p:cNvSpPr/>
          <p:nvPr/>
        </p:nvSpPr>
        <p:spPr>
          <a:xfrm>
            <a:off x="804672" y="4544568"/>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Tests the task quickly.</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Retries once or twice.</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Checks app, balance or settings.</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Falls back without formal complaint.</a:t>
            </a:r>
            <a:endParaRPr lang="en-US" sz="1050" dirty="0"/>
          </a:p>
        </p:txBody>
      </p:sp>
      <p:sp>
        <p:nvSpPr>
          <p:cNvPr id="25" name="Shape 22"/>
          <p:cNvSpPr/>
          <p:nvPr/>
        </p:nvSpPr>
        <p:spPr>
          <a:xfrm>
            <a:off x="4350410" y="4142232"/>
            <a:ext cx="3490874" cy="1664208"/>
          </a:xfrm>
          <a:prstGeom prst="roundRect">
            <a:avLst>
              <a:gd name="adj" fmla="val 3297"/>
            </a:avLst>
          </a:prstGeom>
          <a:solidFill>
            <a:srgbClr val="FDF2F2"/>
          </a:solidFill>
          <a:ln w="12700">
            <a:solidFill>
              <a:srgbClr val="CBD8EA"/>
            </a:solidFill>
            <a:prstDash val="solid"/>
          </a:ln>
        </p:spPr>
      </p:sp>
      <p:sp>
        <p:nvSpPr>
          <p:cNvPr id="26" name="Shape 23"/>
          <p:cNvSpPr/>
          <p:nvPr/>
        </p:nvSpPr>
        <p:spPr>
          <a:xfrm>
            <a:off x="4350410" y="4142232"/>
            <a:ext cx="64008" cy="1664208"/>
          </a:xfrm>
          <a:prstGeom prst="rect">
            <a:avLst/>
          </a:prstGeom>
          <a:solidFill>
            <a:srgbClr val="C0504D"/>
          </a:solidFill>
          <a:ln/>
        </p:spPr>
      </p:sp>
      <p:sp>
        <p:nvSpPr>
          <p:cNvPr id="27" name="Text 24"/>
          <p:cNvSpPr/>
          <p:nvPr/>
        </p:nvSpPr>
        <p:spPr>
          <a:xfrm>
            <a:off x="4551578" y="4233672"/>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FEARS</a:t>
            </a:r>
            <a:endParaRPr lang="en-US" sz="1150" dirty="0"/>
          </a:p>
        </p:txBody>
      </p:sp>
      <p:sp>
        <p:nvSpPr>
          <p:cNvPr id="28" name="Text 25"/>
          <p:cNvSpPr/>
          <p:nvPr/>
        </p:nvSpPr>
        <p:spPr>
          <a:xfrm>
            <a:off x="4588154" y="4544568"/>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Missing an OTP, call or work task.</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Wasting time or balance.</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Moving important services too early.</a:t>
            </a:r>
            <a:endParaRPr lang="en-US" sz="1050" dirty="0"/>
          </a:p>
        </p:txBody>
      </p:sp>
      <p:sp>
        <p:nvSpPr>
          <p:cNvPr id="29" name="Shape 26"/>
          <p:cNvSpPr/>
          <p:nvPr/>
        </p:nvSpPr>
        <p:spPr>
          <a:xfrm>
            <a:off x="8133893" y="4142232"/>
            <a:ext cx="3490874" cy="1664208"/>
          </a:xfrm>
          <a:prstGeom prst="roundRect">
            <a:avLst>
              <a:gd name="adj" fmla="val 3297"/>
            </a:avLst>
          </a:prstGeom>
          <a:solidFill>
            <a:srgbClr val="FFFFFF"/>
          </a:solidFill>
          <a:ln w="12700">
            <a:solidFill>
              <a:srgbClr val="CBD8EA"/>
            </a:solidFill>
            <a:prstDash val="solid"/>
          </a:ln>
        </p:spPr>
      </p:sp>
      <p:sp>
        <p:nvSpPr>
          <p:cNvPr id="30" name="Shape 27"/>
          <p:cNvSpPr/>
          <p:nvPr/>
        </p:nvSpPr>
        <p:spPr>
          <a:xfrm>
            <a:off x="8133893" y="4142232"/>
            <a:ext cx="64008" cy="1664208"/>
          </a:xfrm>
          <a:prstGeom prst="rect">
            <a:avLst/>
          </a:prstGeom>
          <a:solidFill>
            <a:srgbClr val="C8881A"/>
          </a:solidFill>
          <a:ln/>
        </p:spPr>
      </p:sp>
      <p:sp>
        <p:nvSpPr>
          <p:cNvPr id="31" name="Text 28"/>
          <p:cNvSpPr/>
          <p:nvPr/>
        </p:nvSpPr>
        <p:spPr>
          <a:xfrm>
            <a:off x="8335061" y="4233672"/>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EXPECTATIONS</a:t>
            </a:r>
            <a:endParaRPr lang="en-US" sz="1150" dirty="0"/>
          </a:p>
        </p:txBody>
      </p:sp>
      <p:sp>
        <p:nvSpPr>
          <p:cNvPr id="32" name="Text 29"/>
          <p:cNvSpPr/>
          <p:nvPr/>
        </p:nvSpPr>
        <p:spPr>
          <a:xfrm>
            <a:off x="8371637" y="4544568"/>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Task works soon after activation.</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Status and value are clear.</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Next action is easier than fallback.</a:t>
            </a:r>
            <a:endParaRPr lang="en-US" sz="1050" dirty="0"/>
          </a:p>
        </p:txBody>
      </p:sp>
      <p:sp>
        <p:nvSpPr>
          <p:cNvPr id="33" name="Shape 30"/>
          <p:cNvSpPr/>
          <p:nvPr/>
        </p:nvSpPr>
        <p:spPr>
          <a:xfrm>
            <a:off x="566928" y="5916168"/>
            <a:ext cx="11057839" cy="475488"/>
          </a:xfrm>
          <a:prstGeom prst="roundRect">
            <a:avLst>
              <a:gd name="adj" fmla="val 11538"/>
            </a:avLst>
          </a:prstGeom>
          <a:solidFill>
            <a:srgbClr val="EFF4FB"/>
          </a:solidFill>
          <a:ln w="12700">
            <a:solidFill>
              <a:srgbClr val="0E8FCF"/>
            </a:solidFill>
            <a:prstDash val="solid"/>
          </a:ln>
        </p:spPr>
      </p:sp>
      <p:sp>
        <p:nvSpPr>
          <p:cNvPr id="34" name="Text 31"/>
          <p:cNvSpPr/>
          <p:nvPr/>
        </p:nvSpPr>
        <p:spPr>
          <a:xfrm>
            <a:off x="768096" y="5971032"/>
            <a:ext cx="10692079" cy="365760"/>
          </a:xfrm>
          <a:prstGeom prst="rect">
            <a:avLst/>
          </a:prstGeom>
          <a:noFill/>
          <a:ln/>
        </p:spPr>
        <p:txBody>
          <a:bodyPr wrap="square" lIns="0" tIns="0" rIns="0" bIns="0" rtlCol="0" anchor="ctr"/>
          <a:lstStyle/>
          <a:p>
            <a:pPr indent="0" marL="0">
              <a:lnSpc>
                <a:spcPts val="1400"/>
              </a:lnSpc>
              <a:buNone/>
            </a:pPr>
            <a:r>
              <a:rPr lang="en-US" sz="1150" b="1" dirty="0">
                <a:solidFill>
                  <a:srgbClr val="0E8FCF"/>
                </a:solidFill>
                <a:latin typeface="Calibri" pitchFamily="34" charset="0"/>
                <a:ea typeface="Calibri" pitchFamily="34" charset="-122"/>
                <a:cs typeface="Calibri" pitchFamily="34" charset="-120"/>
              </a:rPr>
              <a:t>What this means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For Majed, readiness is not a technical state. Readiness means the first meaningful task works with enough confidence to continue.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56032"/>
          </a:xfrm>
          <a:prstGeom prst="rect">
            <a:avLst/>
          </a:prstGeom>
          <a:noFill/>
          <a:ln/>
        </p:spPr>
        <p:txBody>
          <a:bodyPr wrap="square" lIns="0" tIns="0" rIns="0" bIns="0" rtlCol="0" anchor="ctr"/>
          <a:lstStyle/>
          <a:p>
            <a:pPr indent="0" marL="0">
              <a:buNone/>
            </a:pPr>
            <a:r>
              <a:rPr lang="en-US" sz="1150" b="1" spc="250" kern="0" dirty="0">
                <a:solidFill>
                  <a:srgbClr val="2E86AB"/>
                </a:solidFill>
                <a:latin typeface="Calibri" pitchFamily="34" charset="0"/>
                <a:ea typeface="Calibri" pitchFamily="34" charset="-122"/>
                <a:cs typeface="Calibri" pitchFamily="34" charset="-120"/>
              </a:rPr>
              <a:t>EMPATHY MAP</a:t>
            </a:r>
            <a:endParaRPr lang="en-US" sz="1150" dirty="0"/>
          </a:p>
        </p:txBody>
      </p:sp>
      <p:sp>
        <p:nvSpPr>
          <p:cNvPr id="3" name="Text 1"/>
          <p:cNvSpPr/>
          <p:nvPr/>
        </p:nvSpPr>
        <p:spPr>
          <a:xfrm>
            <a:off x="566928" y="640080"/>
            <a:ext cx="11057839" cy="621792"/>
          </a:xfrm>
          <a:prstGeom prst="rect">
            <a:avLst/>
          </a:prstGeom>
          <a:noFill/>
          <a:ln/>
        </p:spPr>
        <p:txBody>
          <a:bodyPr wrap="square" lIns="0" tIns="0" rIns="0" bIns="0" rtlCol="0" anchor="t"/>
          <a:lstStyle/>
          <a:p>
            <a:pPr indent="0" marL="0">
              <a:lnSpc>
                <a:spcPts val="2700"/>
              </a:lnSpc>
              <a:buNone/>
            </a:pPr>
            <a:r>
              <a:rPr lang="en-US" sz="2400" b="1" dirty="0">
                <a:solidFill>
                  <a:srgbClr val="1F3864"/>
                </a:solidFill>
                <a:latin typeface="Calibri" pitchFamily="34" charset="0"/>
                <a:ea typeface="Calibri" pitchFamily="34" charset="-122"/>
                <a:cs typeface="Calibri" pitchFamily="34" charset="-120"/>
              </a:rPr>
              <a:t>Empathy Map: Alya</a:t>
            </a:r>
            <a:endParaRPr lang="en-US" sz="2400" dirty="0"/>
          </a:p>
        </p:txBody>
      </p:sp>
      <p:sp>
        <p:nvSpPr>
          <p:cNvPr id="4" name="Shape 2"/>
          <p:cNvSpPr/>
          <p:nvPr/>
        </p:nvSpPr>
        <p:spPr>
          <a:xfrm>
            <a:off x="566928" y="1261872"/>
            <a:ext cx="777240" cy="45720"/>
          </a:xfrm>
          <a:prstGeom prst="rect">
            <a:avLst/>
          </a:prstGeom>
          <a:solidFill>
            <a:srgbClr val="0E8FCF"/>
          </a:solidFill>
          <a:ln/>
        </p:spPr>
      </p:sp>
      <p:sp>
        <p:nvSpPr>
          <p:cNvPr id="5" name="Text 3"/>
          <p:cNvSpPr/>
          <p:nvPr/>
        </p:nvSpPr>
        <p:spPr>
          <a:xfrm>
            <a:off x="566928" y="6464808"/>
            <a:ext cx="10058400" cy="237744"/>
          </a:xfrm>
          <a:prstGeom prst="rect">
            <a:avLst/>
          </a:prstGeom>
          <a:noFill/>
          <a:ln/>
        </p:spPr>
        <p:txBody>
          <a:bodyPr wrap="square" lIns="0" tIns="0" rIns="0" bIns="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TEAM UNITY</a:t>
            </a:r>
            <a:pPr indent="0" marL="0">
              <a:buNone/>
            </a:pPr>
            <a:r>
              <a:rPr lang="en-US" sz="900" dirty="0">
                <a:solidFill>
                  <a:srgbClr val="6B7280"/>
                </a:solidFill>
                <a:latin typeface="Calibri" pitchFamily="34" charset="0"/>
                <a:ea typeface="Calibri" pitchFamily="34" charset="-122"/>
                <a:cs typeface="Calibri" pitchFamily="34" charset="-120"/>
              </a:rPr>
              <a:t>   ·   Sprint 4 · 4.2 Empathy Map</a:t>
            </a:r>
            <a:endParaRPr lang="en-US" sz="900" dirty="0"/>
          </a:p>
        </p:txBody>
      </p:sp>
      <p:sp>
        <p:nvSpPr>
          <p:cNvPr id="6" name="Text 4"/>
          <p:cNvSpPr/>
          <p:nvPr/>
        </p:nvSpPr>
        <p:spPr>
          <a:xfrm>
            <a:off x="11140135" y="6464808"/>
            <a:ext cx="54864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4</a:t>
            </a:r>
            <a:endParaRPr lang="en-US" sz="900" dirty="0"/>
          </a:p>
        </p:txBody>
      </p:sp>
      <p:pic>
        <p:nvPicPr>
          <p:cNvPr id="7" name="Image 0" descr="/tmp/avatar_alya.png">    </p:cNvPr>
          <p:cNvPicPr>
            <a:picLocks noChangeAspect="1"/>
          </p:cNvPicPr>
          <p:nvPr/>
        </p:nvPicPr>
        <p:blipFill>
          <a:blip r:embed="rId1"/>
          <a:stretch>
            <a:fillRect/>
          </a:stretch>
        </p:blipFill>
        <p:spPr>
          <a:xfrm>
            <a:off x="566928" y="1371600"/>
            <a:ext cx="777240" cy="777240"/>
          </a:xfrm>
          <a:prstGeom prst="rect">
            <a:avLst/>
          </a:prstGeom>
        </p:spPr>
      </p:pic>
      <p:sp>
        <p:nvSpPr>
          <p:cNvPr id="8" name="Text 5"/>
          <p:cNvSpPr/>
          <p:nvPr/>
        </p:nvSpPr>
        <p:spPr>
          <a:xfrm>
            <a:off x="1481328" y="1371600"/>
            <a:ext cx="10143439" cy="777240"/>
          </a:xfrm>
          <a:prstGeom prst="rect">
            <a:avLst/>
          </a:prstGeom>
          <a:noFill/>
          <a:ln/>
        </p:spPr>
        <p:txBody>
          <a:bodyPr wrap="square" lIns="0" tIns="0" rIns="0" bIns="0" rtlCol="0" anchor="ctr"/>
          <a:lstStyle/>
          <a:p>
            <a:pPr indent="0" marL="0">
              <a:lnSpc>
                <a:spcPts val="1400"/>
              </a:lnSpc>
              <a:buNone/>
            </a:pPr>
            <a:r>
              <a:rPr lang="en-US" sz="1100" i="1" dirty="0">
                <a:solidFill>
                  <a:srgbClr val="6B7280"/>
                </a:solidFill>
                <a:latin typeface="Calibri" pitchFamily="34" charset="0"/>
                <a:ea typeface="Calibri" pitchFamily="34" charset="-122"/>
                <a:cs typeface="Calibri" pitchFamily="34" charset="-120"/>
              </a:rPr>
              <a:t>How the secondary persona experiences weak handover after assisted setup.   </a:t>
            </a:r>
            <a:pPr indent="0" marL="0">
              <a:lnSpc>
                <a:spcPts val="1400"/>
              </a:lnSpc>
              <a:buNone/>
            </a:pPr>
            <a:r>
              <a:rPr lang="en-US" sz="1100" i="1" dirty="0">
                <a:solidFill>
                  <a:srgbClr val="2F5496"/>
                </a:solidFill>
                <a:latin typeface="Calibri" pitchFamily="34" charset="0"/>
                <a:ea typeface="Calibri" pitchFamily="34" charset="-122"/>
                <a:cs typeface="Calibri" pitchFamily="34" charset="-120"/>
              </a:rPr>
              <a:t>“The shop helped once. At home I needed one simple message showing what to do next.” · BC-12</a:t>
            </a:r>
            <a:endParaRPr lang="en-US" sz="1100" dirty="0"/>
          </a:p>
        </p:txBody>
      </p:sp>
      <p:sp>
        <p:nvSpPr>
          <p:cNvPr id="9" name="Shape 6"/>
          <p:cNvSpPr/>
          <p:nvPr/>
        </p:nvSpPr>
        <p:spPr>
          <a:xfrm>
            <a:off x="566928" y="2240280"/>
            <a:ext cx="3490874" cy="1664208"/>
          </a:xfrm>
          <a:prstGeom prst="roundRect">
            <a:avLst>
              <a:gd name="adj" fmla="val 3297"/>
            </a:avLst>
          </a:prstGeom>
          <a:solidFill>
            <a:srgbClr val="FFFFFF"/>
          </a:solidFill>
          <a:ln w="12700">
            <a:solidFill>
              <a:srgbClr val="CBD8EA"/>
            </a:solidFill>
            <a:prstDash val="solid"/>
          </a:ln>
        </p:spPr>
      </p:sp>
      <p:sp>
        <p:nvSpPr>
          <p:cNvPr id="10" name="Shape 7"/>
          <p:cNvSpPr/>
          <p:nvPr/>
        </p:nvSpPr>
        <p:spPr>
          <a:xfrm>
            <a:off x="566928" y="2240280"/>
            <a:ext cx="64008" cy="1664208"/>
          </a:xfrm>
          <a:prstGeom prst="rect">
            <a:avLst/>
          </a:prstGeom>
          <a:solidFill>
            <a:srgbClr val="0E8FCF"/>
          </a:solidFill>
          <a:ln/>
        </p:spPr>
      </p:sp>
      <p:sp>
        <p:nvSpPr>
          <p:cNvPr id="11" name="Text 8"/>
          <p:cNvSpPr/>
          <p:nvPr/>
        </p:nvSpPr>
        <p:spPr>
          <a:xfrm>
            <a:off x="768096" y="2331720"/>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THINK &amp; FEEL</a:t>
            </a:r>
            <a:endParaRPr lang="en-US" sz="1150" dirty="0"/>
          </a:p>
        </p:txBody>
      </p:sp>
      <p:sp>
        <p:nvSpPr>
          <p:cNvPr id="12" name="Text 9"/>
          <p:cNvSpPr/>
          <p:nvPr/>
        </p:nvSpPr>
        <p:spPr>
          <a:xfrm>
            <a:off x="804672" y="2642616"/>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Setup looks finished, but can I continue safely?</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What if I press the wrong option?</a:t>
            </a:r>
            <a:endParaRPr lang="en-US" sz="1050" dirty="0"/>
          </a:p>
        </p:txBody>
      </p:sp>
      <p:sp>
        <p:nvSpPr>
          <p:cNvPr id="13" name="Shape 10"/>
          <p:cNvSpPr/>
          <p:nvPr/>
        </p:nvSpPr>
        <p:spPr>
          <a:xfrm>
            <a:off x="4350410" y="2240280"/>
            <a:ext cx="3490874" cy="1664208"/>
          </a:xfrm>
          <a:prstGeom prst="roundRect">
            <a:avLst>
              <a:gd name="adj" fmla="val 3297"/>
            </a:avLst>
          </a:prstGeom>
          <a:solidFill>
            <a:srgbClr val="FFFFFF"/>
          </a:solidFill>
          <a:ln w="12700">
            <a:solidFill>
              <a:srgbClr val="CBD8EA"/>
            </a:solidFill>
            <a:prstDash val="solid"/>
          </a:ln>
        </p:spPr>
      </p:sp>
      <p:sp>
        <p:nvSpPr>
          <p:cNvPr id="14" name="Shape 11"/>
          <p:cNvSpPr/>
          <p:nvPr/>
        </p:nvSpPr>
        <p:spPr>
          <a:xfrm>
            <a:off x="4350410" y="2240280"/>
            <a:ext cx="64008" cy="1664208"/>
          </a:xfrm>
          <a:prstGeom prst="rect">
            <a:avLst/>
          </a:prstGeom>
          <a:solidFill>
            <a:srgbClr val="2E86AB"/>
          </a:solidFill>
          <a:ln/>
        </p:spPr>
      </p:sp>
      <p:sp>
        <p:nvSpPr>
          <p:cNvPr id="15" name="Text 12"/>
          <p:cNvSpPr/>
          <p:nvPr/>
        </p:nvSpPr>
        <p:spPr>
          <a:xfrm>
            <a:off x="4551578" y="2331720"/>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HEAR</a:t>
            </a:r>
            <a:endParaRPr lang="en-US" sz="1150" dirty="0"/>
          </a:p>
        </p:txBody>
      </p:sp>
      <p:sp>
        <p:nvSpPr>
          <p:cNvPr id="16" name="Text 13"/>
          <p:cNvSpPr/>
          <p:nvPr/>
        </p:nvSpPr>
        <p:spPr>
          <a:xfrm>
            <a:off x="4588154" y="2642616"/>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Retailer or family says the line is ready.</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Package and balance explanations may be incomplete.</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Care support may not match her available time.</a:t>
            </a:r>
            <a:endParaRPr lang="en-US" sz="1050" dirty="0"/>
          </a:p>
        </p:txBody>
      </p:sp>
      <p:sp>
        <p:nvSpPr>
          <p:cNvPr id="17" name="Shape 14"/>
          <p:cNvSpPr/>
          <p:nvPr/>
        </p:nvSpPr>
        <p:spPr>
          <a:xfrm>
            <a:off x="8133893" y="2240280"/>
            <a:ext cx="3490874" cy="1664208"/>
          </a:xfrm>
          <a:prstGeom prst="roundRect">
            <a:avLst>
              <a:gd name="adj" fmla="val 3297"/>
            </a:avLst>
          </a:prstGeom>
          <a:solidFill>
            <a:srgbClr val="FFFFFF"/>
          </a:solidFill>
          <a:ln w="12700">
            <a:solidFill>
              <a:srgbClr val="CBD8EA"/>
            </a:solidFill>
            <a:prstDash val="solid"/>
          </a:ln>
        </p:spPr>
      </p:sp>
      <p:sp>
        <p:nvSpPr>
          <p:cNvPr id="18" name="Shape 15"/>
          <p:cNvSpPr/>
          <p:nvPr/>
        </p:nvSpPr>
        <p:spPr>
          <a:xfrm>
            <a:off x="8133893" y="2240280"/>
            <a:ext cx="64008" cy="1664208"/>
          </a:xfrm>
          <a:prstGeom prst="rect">
            <a:avLst/>
          </a:prstGeom>
          <a:solidFill>
            <a:srgbClr val="2F5496"/>
          </a:solidFill>
          <a:ln/>
        </p:spPr>
      </p:sp>
      <p:sp>
        <p:nvSpPr>
          <p:cNvPr id="19" name="Text 16"/>
          <p:cNvSpPr/>
          <p:nvPr/>
        </p:nvSpPr>
        <p:spPr>
          <a:xfrm>
            <a:off x="8335061" y="2331720"/>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SEE</a:t>
            </a:r>
            <a:endParaRPr lang="en-US" sz="1150" dirty="0"/>
          </a:p>
        </p:txBody>
      </p:sp>
      <p:sp>
        <p:nvSpPr>
          <p:cNvPr id="20" name="Text 17"/>
          <p:cNvSpPr/>
          <p:nvPr/>
        </p:nvSpPr>
        <p:spPr>
          <a:xfrm>
            <a:off x="8371637" y="2642616"/>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Line works at first, then home use is unclear.</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Balance, data or top-up status is hard to interpret.</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Family or store help is easier than self-service.</a:t>
            </a:r>
            <a:endParaRPr lang="en-US" sz="1050" dirty="0"/>
          </a:p>
        </p:txBody>
      </p:sp>
      <p:sp>
        <p:nvSpPr>
          <p:cNvPr id="21" name="Shape 18"/>
          <p:cNvSpPr/>
          <p:nvPr/>
        </p:nvSpPr>
        <p:spPr>
          <a:xfrm>
            <a:off x="566928" y="4142232"/>
            <a:ext cx="3490874" cy="1664208"/>
          </a:xfrm>
          <a:prstGeom prst="roundRect">
            <a:avLst>
              <a:gd name="adj" fmla="val 3297"/>
            </a:avLst>
          </a:prstGeom>
          <a:solidFill>
            <a:srgbClr val="FFFFFF"/>
          </a:solidFill>
          <a:ln w="12700">
            <a:solidFill>
              <a:srgbClr val="CBD8EA"/>
            </a:solidFill>
            <a:prstDash val="solid"/>
          </a:ln>
        </p:spPr>
      </p:sp>
      <p:sp>
        <p:nvSpPr>
          <p:cNvPr id="22" name="Shape 19"/>
          <p:cNvSpPr/>
          <p:nvPr/>
        </p:nvSpPr>
        <p:spPr>
          <a:xfrm>
            <a:off x="566928" y="4142232"/>
            <a:ext cx="64008" cy="1664208"/>
          </a:xfrm>
          <a:prstGeom prst="rect">
            <a:avLst/>
          </a:prstGeom>
          <a:solidFill>
            <a:srgbClr val="2E8B57"/>
          </a:solidFill>
          <a:ln/>
        </p:spPr>
      </p:sp>
      <p:sp>
        <p:nvSpPr>
          <p:cNvPr id="23" name="Text 20"/>
          <p:cNvSpPr/>
          <p:nvPr/>
        </p:nvSpPr>
        <p:spPr>
          <a:xfrm>
            <a:off x="768096" y="4233672"/>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SAY &amp; DO</a:t>
            </a:r>
            <a:endParaRPr lang="en-US" sz="1150" dirty="0"/>
          </a:p>
        </p:txBody>
      </p:sp>
      <p:sp>
        <p:nvSpPr>
          <p:cNvPr id="24" name="Text 21"/>
          <p:cNvSpPr/>
          <p:nvPr/>
        </p:nvSpPr>
        <p:spPr>
          <a:xfrm>
            <a:off x="804672" y="4544568"/>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Waits for someone she trusts.</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Avoids risky testing.</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Uses the line lightly or pauses it.</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May return to store, family or old routine.</a:t>
            </a:r>
            <a:endParaRPr lang="en-US" sz="1050" dirty="0"/>
          </a:p>
        </p:txBody>
      </p:sp>
      <p:sp>
        <p:nvSpPr>
          <p:cNvPr id="25" name="Shape 22"/>
          <p:cNvSpPr/>
          <p:nvPr/>
        </p:nvSpPr>
        <p:spPr>
          <a:xfrm>
            <a:off x="4350410" y="4142232"/>
            <a:ext cx="3490874" cy="1664208"/>
          </a:xfrm>
          <a:prstGeom prst="roundRect">
            <a:avLst>
              <a:gd name="adj" fmla="val 3297"/>
            </a:avLst>
          </a:prstGeom>
          <a:solidFill>
            <a:srgbClr val="FDF2F2"/>
          </a:solidFill>
          <a:ln w="12700">
            <a:solidFill>
              <a:srgbClr val="CBD8EA"/>
            </a:solidFill>
            <a:prstDash val="solid"/>
          </a:ln>
        </p:spPr>
      </p:sp>
      <p:sp>
        <p:nvSpPr>
          <p:cNvPr id="26" name="Shape 23"/>
          <p:cNvSpPr/>
          <p:nvPr/>
        </p:nvSpPr>
        <p:spPr>
          <a:xfrm>
            <a:off x="4350410" y="4142232"/>
            <a:ext cx="64008" cy="1664208"/>
          </a:xfrm>
          <a:prstGeom prst="rect">
            <a:avLst/>
          </a:prstGeom>
          <a:solidFill>
            <a:srgbClr val="C0504D"/>
          </a:solidFill>
          <a:ln/>
        </p:spPr>
      </p:sp>
      <p:sp>
        <p:nvSpPr>
          <p:cNvPr id="27" name="Text 24"/>
          <p:cNvSpPr/>
          <p:nvPr/>
        </p:nvSpPr>
        <p:spPr>
          <a:xfrm>
            <a:off x="4551578" y="4233672"/>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FEARS</a:t>
            </a:r>
            <a:endParaRPr lang="en-US" sz="1150" dirty="0"/>
          </a:p>
        </p:txBody>
      </p:sp>
      <p:sp>
        <p:nvSpPr>
          <p:cNvPr id="28" name="Text 25"/>
          <p:cNvSpPr/>
          <p:nvPr/>
        </p:nvSpPr>
        <p:spPr>
          <a:xfrm>
            <a:off x="4588154" y="4544568"/>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Spending balance just to test.</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Making a wrong setting change.</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Being responsible for another user’s failed line.</a:t>
            </a:r>
            <a:endParaRPr lang="en-US" sz="1050" dirty="0"/>
          </a:p>
        </p:txBody>
      </p:sp>
      <p:sp>
        <p:nvSpPr>
          <p:cNvPr id="29" name="Shape 26"/>
          <p:cNvSpPr/>
          <p:nvPr/>
        </p:nvSpPr>
        <p:spPr>
          <a:xfrm>
            <a:off x="8133893" y="4142232"/>
            <a:ext cx="3490874" cy="1664208"/>
          </a:xfrm>
          <a:prstGeom prst="roundRect">
            <a:avLst>
              <a:gd name="adj" fmla="val 3297"/>
            </a:avLst>
          </a:prstGeom>
          <a:solidFill>
            <a:srgbClr val="FFFFFF"/>
          </a:solidFill>
          <a:ln w="12700">
            <a:solidFill>
              <a:srgbClr val="CBD8EA"/>
            </a:solidFill>
            <a:prstDash val="solid"/>
          </a:ln>
        </p:spPr>
      </p:sp>
      <p:sp>
        <p:nvSpPr>
          <p:cNvPr id="30" name="Shape 27"/>
          <p:cNvSpPr/>
          <p:nvPr/>
        </p:nvSpPr>
        <p:spPr>
          <a:xfrm>
            <a:off x="8133893" y="4142232"/>
            <a:ext cx="64008" cy="1664208"/>
          </a:xfrm>
          <a:prstGeom prst="rect">
            <a:avLst/>
          </a:prstGeom>
          <a:solidFill>
            <a:srgbClr val="C8881A"/>
          </a:solidFill>
          <a:ln/>
        </p:spPr>
      </p:sp>
      <p:sp>
        <p:nvSpPr>
          <p:cNvPr id="31" name="Text 28"/>
          <p:cNvSpPr/>
          <p:nvPr/>
        </p:nvSpPr>
        <p:spPr>
          <a:xfrm>
            <a:off x="8335061" y="4233672"/>
            <a:ext cx="3161690"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EXPECTATIONS</a:t>
            </a:r>
            <a:endParaRPr lang="en-US" sz="1150" dirty="0"/>
          </a:p>
        </p:txBody>
      </p:sp>
      <p:sp>
        <p:nvSpPr>
          <p:cNvPr id="32" name="Text 29"/>
          <p:cNvSpPr/>
          <p:nvPr/>
        </p:nvSpPr>
        <p:spPr>
          <a:xfrm>
            <a:off x="8371637" y="4544568"/>
            <a:ext cx="3088538" cy="1170432"/>
          </a:xfrm>
          <a:prstGeom prst="rect">
            <a:avLst/>
          </a:prstGeom>
          <a:noFill/>
          <a:ln/>
        </p:spPr>
        <p:txBody>
          <a:bodyPr wrap="square" lIns="0" tIns="0" rIns="0" bIns="0" rtlCol="0" anchor="t"/>
          <a:lstStyle/>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A simple confirmation after setup.</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Safe testing with clear cost/value.</a:t>
            </a:r>
            <a:endParaRPr lang="en-US" sz="1050" dirty="0"/>
          </a:p>
          <a:p>
            <a:pPr marL="101600" indent="-101600">
              <a:lnSpc>
                <a:spcPts val="1350"/>
              </a:lnSpc>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Guidance for the person who can act.</a:t>
            </a:r>
            <a:endParaRPr lang="en-US" sz="1050" dirty="0"/>
          </a:p>
        </p:txBody>
      </p:sp>
      <p:sp>
        <p:nvSpPr>
          <p:cNvPr id="33" name="Shape 30"/>
          <p:cNvSpPr/>
          <p:nvPr/>
        </p:nvSpPr>
        <p:spPr>
          <a:xfrm>
            <a:off x="566928" y="5916168"/>
            <a:ext cx="11057839" cy="475488"/>
          </a:xfrm>
          <a:prstGeom prst="roundRect">
            <a:avLst>
              <a:gd name="adj" fmla="val 11538"/>
            </a:avLst>
          </a:prstGeom>
          <a:solidFill>
            <a:srgbClr val="EFF4FB"/>
          </a:solidFill>
          <a:ln w="12700">
            <a:solidFill>
              <a:srgbClr val="2E86AB"/>
            </a:solidFill>
            <a:prstDash val="solid"/>
          </a:ln>
        </p:spPr>
      </p:sp>
      <p:sp>
        <p:nvSpPr>
          <p:cNvPr id="34" name="Text 31"/>
          <p:cNvSpPr/>
          <p:nvPr/>
        </p:nvSpPr>
        <p:spPr>
          <a:xfrm>
            <a:off x="768096" y="5971032"/>
            <a:ext cx="10692079" cy="365760"/>
          </a:xfrm>
          <a:prstGeom prst="rect">
            <a:avLst/>
          </a:prstGeom>
          <a:noFill/>
          <a:ln/>
        </p:spPr>
        <p:txBody>
          <a:bodyPr wrap="square" lIns="0" tIns="0" rIns="0" bIns="0" rtlCol="0" anchor="ctr"/>
          <a:lstStyle/>
          <a:p>
            <a:pPr indent="0" marL="0">
              <a:lnSpc>
                <a:spcPts val="1400"/>
              </a:lnSpc>
              <a:buNone/>
            </a:pPr>
            <a:r>
              <a:rPr lang="en-US" sz="1150" b="1" dirty="0">
                <a:solidFill>
                  <a:srgbClr val="2E86AB"/>
                </a:solidFill>
                <a:latin typeface="Calibri" pitchFamily="34" charset="0"/>
                <a:ea typeface="Calibri" pitchFamily="34" charset="-122"/>
                <a:cs typeface="Calibri" pitchFamily="34" charset="-120"/>
              </a:rPr>
              <a:t>What this means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For Alya, the issue is not low digital interest. The issue is that the assisted journey ends before confidence travels home with the customer.</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56032"/>
          </a:xfrm>
          <a:prstGeom prst="rect">
            <a:avLst/>
          </a:prstGeom>
          <a:noFill/>
          <a:ln/>
        </p:spPr>
        <p:txBody>
          <a:bodyPr wrap="square" lIns="0" tIns="0" rIns="0" bIns="0" rtlCol="0" anchor="ctr"/>
          <a:lstStyle/>
          <a:p>
            <a:pPr indent="0" marL="0">
              <a:buNone/>
            </a:pPr>
            <a:r>
              <a:rPr lang="en-US" sz="1150" b="1" spc="250" kern="0" dirty="0">
                <a:solidFill>
                  <a:srgbClr val="0E8FCF"/>
                </a:solidFill>
                <a:latin typeface="Calibri" pitchFamily="34" charset="0"/>
                <a:ea typeface="Calibri" pitchFamily="34" charset="-122"/>
                <a:cs typeface="Calibri" pitchFamily="34" charset="-120"/>
              </a:rPr>
              <a:t>SIGNAL VS REASON</a:t>
            </a:r>
            <a:endParaRPr lang="en-US" sz="1150" dirty="0"/>
          </a:p>
        </p:txBody>
      </p:sp>
      <p:sp>
        <p:nvSpPr>
          <p:cNvPr id="3" name="Text 1"/>
          <p:cNvSpPr/>
          <p:nvPr/>
        </p:nvSpPr>
        <p:spPr>
          <a:xfrm>
            <a:off x="566928" y="640080"/>
            <a:ext cx="11057839" cy="621792"/>
          </a:xfrm>
          <a:prstGeom prst="rect">
            <a:avLst/>
          </a:prstGeom>
          <a:noFill/>
          <a:ln/>
        </p:spPr>
        <p:txBody>
          <a:bodyPr wrap="square" lIns="0" tIns="0" rIns="0" bIns="0" rtlCol="0" anchor="t"/>
          <a:lstStyle/>
          <a:p>
            <a:pPr indent="0" marL="0">
              <a:lnSpc>
                <a:spcPts val="2800"/>
              </a:lnSpc>
              <a:buNone/>
            </a:pPr>
            <a:r>
              <a:rPr lang="en-US" sz="2500" b="1" dirty="0">
                <a:solidFill>
                  <a:srgbClr val="1F3864"/>
                </a:solidFill>
                <a:latin typeface="Calibri" pitchFamily="34" charset="0"/>
                <a:ea typeface="Calibri" pitchFamily="34" charset="-122"/>
                <a:cs typeface="Calibri" pitchFamily="34" charset="-120"/>
              </a:rPr>
              <a:t>The signal is observable. The reason is not.</a:t>
            </a:r>
            <a:endParaRPr lang="en-US" sz="2500" dirty="0"/>
          </a:p>
        </p:txBody>
      </p:sp>
      <p:sp>
        <p:nvSpPr>
          <p:cNvPr id="4" name="Shape 2"/>
          <p:cNvSpPr/>
          <p:nvPr/>
        </p:nvSpPr>
        <p:spPr>
          <a:xfrm>
            <a:off x="566928" y="1261872"/>
            <a:ext cx="777240" cy="45720"/>
          </a:xfrm>
          <a:prstGeom prst="rect">
            <a:avLst/>
          </a:prstGeom>
          <a:solidFill>
            <a:srgbClr val="0E8FCF"/>
          </a:solidFill>
          <a:ln/>
        </p:spPr>
      </p:sp>
      <p:sp>
        <p:nvSpPr>
          <p:cNvPr id="5" name="Text 3"/>
          <p:cNvSpPr/>
          <p:nvPr/>
        </p:nvSpPr>
        <p:spPr>
          <a:xfrm>
            <a:off x="566928" y="1389888"/>
            <a:ext cx="11057839" cy="256032"/>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The same early-life signal can hide several human situations.</a:t>
            </a:r>
            <a:endParaRPr lang="en-US" sz="1150" dirty="0"/>
          </a:p>
        </p:txBody>
      </p:sp>
      <p:sp>
        <p:nvSpPr>
          <p:cNvPr id="6" name="Text 4"/>
          <p:cNvSpPr/>
          <p:nvPr/>
        </p:nvSpPr>
        <p:spPr>
          <a:xfrm>
            <a:off x="566928" y="6464808"/>
            <a:ext cx="10058400" cy="237744"/>
          </a:xfrm>
          <a:prstGeom prst="rect">
            <a:avLst/>
          </a:prstGeom>
          <a:noFill/>
          <a:ln/>
        </p:spPr>
        <p:txBody>
          <a:bodyPr wrap="square" lIns="0" tIns="0" rIns="0" bIns="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TEAM UNITY</a:t>
            </a:r>
            <a:pPr indent="0" marL="0">
              <a:buNone/>
            </a:pPr>
            <a:r>
              <a:rPr lang="en-US" sz="900" dirty="0">
                <a:solidFill>
                  <a:srgbClr val="6B7280"/>
                </a:solidFill>
                <a:latin typeface="Calibri" pitchFamily="34" charset="0"/>
                <a:ea typeface="Calibri" pitchFamily="34" charset="-122"/>
                <a:cs typeface="Calibri" pitchFamily="34" charset="-120"/>
              </a:rPr>
              <a:t>   ·   Sprint 4 · 4.2 Empathy Map</a:t>
            </a:r>
            <a:endParaRPr lang="en-US" sz="900" dirty="0"/>
          </a:p>
        </p:txBody>
      </p:sp>
      <p:sp>
        <p:nvSpPr>
          <p:cNvPr id="7" name="Text 5"/>
          <p:cNvSpPr/>
          <p:nvPr/>
        </p:nvSpPr>
        <p:spPr>
          <a:xfrm>
            <a:off x="11140135" y="6464808"/>
            <a:ext cx="54864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4</a:t>
            </a:r>
            <a:endParaRPr lang="en-US" sz="900" dirty="0"/>
          </a:p>
        </p:txBody>
      </p:sp>
      <p:sp>
        <p:nvSpPr>
          <p:cNvPr id="8" name="Shape 6"/>
          <p:cNvSpPr/>
          <p:nvPr/>
        </p:nvSpPr>
        <p:spPr>
          <a:xfrm>
            <a:off x="566928" y="1874520"/>
            <a:ext cx="2651760" cy="3749040"/>
          </a:xfrm>
          <a:prstGeom prst="roundRect">
            <a:avLst>
              <a:gd name="adj" fmla="val 2069"/>
            </a:avLst>
          </a:prstGeom>
          <a:solidFill>
            <a:srgbClr val="12233F"/>
          </a:solidFill>
          <a:ln w="12700">
            <a:solidFill>
              <a:srgbClr val="12233F"/>
            </a:solidFill>
            <a:prstDash val="solid"/>
          </a:ln>
        </p:spPr>
      </p:sp>
      <p:sp>
        <p:nvSpPr>
          <p:cNvPr id="9" name="Text 7"/>
          <p:cNvSpPr/>
          <p:nvPr/>
        </p:nvSpPr>
        <p:spPr>
          <a:xfrm>
            <a:off x="749808" y="1874520"/>
            <a:ext cx="2286000" cy="3749040"/>
          </a:xfrm>
          <a:prstGeom prst="rect">
            <a:avLst/>
          </a:prstGeom>
          <a:noFill/>
          <a:ln/>
        </p:spPr>
        <p:txBody>
          <a:bodyPr wrap="square" lIns="0" tIns="0" rIns="0" bIns="0" rtlCol="0" anchor="ctr"/>
          <a:lstStyle/>
          <a:p>
            <a:pPr indent="0" marL="0">
              <a:lnSpc>
                <a:spcPts val="2600"/>
              </a:lnSpc>
              <a:buNone/>
            </a:pPr>
            <a:r>
              <a:rPr lang="en-US" sz="1900" b="1" dirty="0">
                <a:solidFill>
                  <a:srgbClr val="FFFFFF"/>
                </a:solidFill>
                <a:latin typeface="Calibri" pitchFamily="34" charset="0"/>
                <a:ea typeface="Calibri" pitchFamily="34" charset="-122"/>
                <a:cs typeface="Calibri" pitchFamily="34" charset="-120"/>
              </a:rPr>
              <a:t>LOW / QUIET</a:t>
            </a:r>
            <a:endParaRPr lang="en-US" sz="1900" dirty="0"/>
          </a:p>
          <a:p>
            <a:pPr indent="0" marL="0">
              <a:lnSpc>
                <a:spcPts val="2600"/>
              </a:lnSpc>
              <a:buNone/>
            </a:pPr>
            <a:r>
              <a:rPr lang="en-US" sz="1900" b="1" dirty="0">
                <a:solidFill>
                  <a:srgbClr val="FFFFFF"/>
                </a:solidFill>
                <a:latin typeface="Calibri" pitchFamily="34" charset="0"/>
                <a:ea typeface="Calibri" pitchFamily="34" charset="-122"/>
                <a:cs typeface="Calibri" pitchFamily="34" charset="-120"/>
              </a:rPr>
              <a:t>EARLY USAGE</a:t>
            </a:r>
            <a:endParaRPr lang="en-US" sz="1900" dirty="0"/>
          </a:p>
        </p:txBody>
      </p:sp>
      <p:sp>
        <p:nvSpPr>
          <p:cNvPr id="10" name="Shape 8"/>
          <p:cNvSpPr/>
          <p:nvPr/>
        </p:nvSpPr>
        <p:spPr>
          <a:xfrm>
            <a:off x="3584448" y="1874520"/>
            <a:ext cx="3883000" cy="1103376"/>
          </a:xfrm>
          <a:prstGeom prst="roundRect">
            <a:avLst>
              <a:gd name="adj" fmla="val 4972"/>
            </a:avLst>
          </a:prstGeom>
          <a:solidFill>
            <a:srgbClr val="FFFFFF"/>
          </a:solidFill>
          <a:ln w="12700">
            <a:solidFill>
              <a:srgbClr val="CBD8EA"/>
            </a:solidFill>
            <a:prstDash val="solid"/>
          </a:ln>
        </p:spPr>
      </p:sp>
      <p:sp>
        <p:nvSpPr>
          <p:cNvPr id="11" name="Shape 9"/>
          <p:cNvSpPr/>
          <p:nvPr/>
        </p:nvSpPr>
        <p:spPr>
          <a:xfrm>
            <a:off x="3584448" y="1874520"/>
            <a:ext cx="64008" cy="1103376"/>
          </a:xfrm>
          <a:prstGeom prst="rect">
            <a:avLst/>
          </a:prstGeom>
          <a:solidFill>
            <a:srgbClr val="0E8FCF"/>
          </a:solidFill>
          <a:ln/>
        </p:spPr>
      </p:sp>
      <p:sp>
        <p:nvSpPr>
          <p:cNvPr id="12" name="Text 10"/>
          <p:cNvSpPr/>
          <p:nvPr/>
        </p:nvSpPr>
        <p:spPr>
          <a:xfrm>
            <a:off x="3785616" y="1984248"/>
            <a:ext cx="3535528" cy="621792"/>
          </a:xfrm>
          <a:prstGeom prst="rect">
            <a:avLst/>
          </a:prstGeom>
          <a:noFill/>
          <a:ln/>
        </p:spPr>
        <p:txBody>
          <a:bodyPr wrap="square" lIns="0" tIns="0" rIns="0" bIns="0" rtlCol="0" anchor="t"/>
          <a:lstStyle/>
          <a:p>
            <a:pPr indent="0" marL="0">
              <a:lnSpc>
                <a:spcPts val="1400"/>
              </a:lnSpc>
              <a:buNone/>
            </a:pPr>
            <a:r>
              <a:rPr lang="en-US" sz="1150" b="1" dirty="0">
                <a:solidFill>
                  <a:srgbClr val="1F3864"/>
                </a:solidFill>
                <a:latin typeface="Calibri" pitchFamily="34" charset="0"/>
                <a:ea typeface="Calibri" pitchFamily="34" charset="-122"/>
                <a:cs typeface="Calibri" pitchFamily="34" charset="-120"/>
              </a:rPr>
              <a:t>First task did not prove readiness</a:t>
            </a:r>
            <a:endParaRPr lang="en-US" sz="1150" dirty="0"/>
          </a:p>
        </p:txBody>
      </p:sp>
      <p:sp>
        <p:nvSpPr>
          <p:cNvPr id="13" name="Text 11"/>
          <p:cNvSpPr/>
          <p:nvPr/>
        </p:nvSpPr>
        <p:spPr>
          <a:xfrm>
            <a:off x="3785616" y="2648712"/>
            <a:ext cx="3535528"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Majed / S1</a:t>
            </a:r>
            <a:endParaRPr lang="en-US" sz="1000" dirty="0"/>
          </a:p>
        </p:txBody>
      </p:sp>
      <p:sp>
        <p:nvSpPr>
          <p:cNvPr id="14" name="Shape 12"/>
          <p:cNvSpPr/>
          <p:nvPr/>
        </p:nvSpPr>
        <p:spPr>
          <a:xfrm>
            <a:off x="7741768" y="1874520"/>
            <a:ext cx="3883000" cy="1103376"/>
          </a:xfrm>
          <a:prstGeom prst="roundRect">
            <a:avLst>
              <a:gd name="adj" fmla="val 4972"/>
            </a:avLst>
          </a:prstGeom>
          <a:solidFill>
            <a:srgbClr val="FFFFFF"/>
          </a:solidFill>
          <a:ln w="12700">
            <a:solidFill>
              <a:srgbClr val="CBD8EA"/>
            </a:solidFill>
            <a:prstDash val="solid"/>
          </a:ln>
        </p:spPr>
      </p:sp>
      <p:sp>
        <p:nvSpPr>
          <p:cNvPr id="15" name="Shape 13"/>
          <p:cNvSpPr/>
          <p:nvPr/>
        </p:nvSpPr>
        <p:spPr>
          <a:xfrm>
            <a:off x="7741768" y="1874520"/>
            <a:ext cx="64008" cy="1103376"/>
          </a:xfrm>
          <a:prstGeom prst="rect">
            <a:avLst/>
          </a:prstGeom>
          <a:solidFill>
            <a:srgbClr val="2E86AB"/>
          </a:solidFill>
          <a:ln/>
        </p:spPr>
      </p:sp>
      <p:sp>
        <p:nvSpPr>
          <p:cNvPr id="16" name="Text 14"/>
          <p:cNvSpPr/>
          <p:nvPr/>
        </p:nvSpPr>
        <p:spPr>
          <a:xfrm>
            <a:off x="7942936" y="1984248"/>
            <a:ext cx="3535528" cy="621792"/>
          </a:xfrm>
          <a:prstGeom prst="rect">
            <a:avLst/>
          </a:prstGeom>
          <a:noFill/>
          <a:ln/>
        </p:spPr>
        <p:txBody>
          <a:bodyPr wrap="square" lIns="0" tIns="0" rIns="0" bIns="0" rtlCol="0" anchor="t"/>
          <a:lstStyle/>
          <a:p>
            <a:pPr indent="0" marL="0">
              <a:lnSpc>
                <a:spcPts val="1400"/>
              </a:lnSpc>
              <a:buNone/>
            </a:pPr>
            <a:r>
              <a:rPr lang="en-US" sz="1150" b="1" dirty="0">
                <a:solidFill>
                  <a:srgbClr val="1F3864"/>
                </a:solidFill>
                <a:latin typeface="Calibri" pitchFamily="34" charset="0"/>
                <a:ea typeface="Calibri" pitchFamily="34" charset="-122"/>
                <a:cs typeface="Calibri" pitchFamily="34" charset="-120"/>
              </a:rPr>
              <a:t>Afraid to waste balance while testing</a:t>
            </a:r>
            <a:endParaRPr lang="en-US" sz="1150" dirty="0"/>
          </a:p>
        </p:txBody>
      </p:sp>
      <p:sp>
        <p:nvSpPr>
          <p:cNvPr id="17" name="Text 15"/>
          <p:cNvSpPr/>
          <p:nvPr/>
        </p:nvSpPr>
        <p:spPr>
          <a:xfrm>
            <a:off x="7942936" y="2648712"/>
            <a:ext cx="3535528"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Alya / S2</a:t>
            </a:r>
            <a:endParaRPr lang="en-US" sz="1000" dirty="0"/>
          </a:p>
        </p:txBody>
      </p:sp>
      <p:sp>
        <p:nvSpPr>
          <p:cNvPr id="18" name="Shape 16"/>
          <p:cNvSpPr/>
          <p:nvPr/>
        </p:nvSpPr>
        <p:spPr>
          <a:xfrm>
            <a:off x="3584448" y="3197352"/>
            <a:ext cx="3883000" cy="1103376"/>
          </a:xfrm>
          <a:prstGeom prst="roundRect">
            <a:avLst>
              <a:gd name="adj" fmla="val 4972"/>
            </a:avLst>
          </a:prstGeom>
          <a:solidFill>
            <a:srgbClr val="FFFFFF"/>
          </a:solidFill>
          <a:ln w="12700">
            <a:solidFill>
              <a:srgbClr val="CBD8EA"/>
            </a:solidFill>
            <a:prstDash val="solid"/>
          </a:ln>
        </p:spPr>
      </p:sp>
      <p:sp>
        <p:nvSpPr>
          <p:cNvPr id="19" name="Shape 17"/>
          <p:cNvSpPr/>
          <p:nvPr/>
        </p:nvSpPr>
        <p:spPr>
          <a:xfrm>
            <a:off x="3584448" y="3197352"/>
            <a:ext cx="64008" cy="1103376"/>
          </a:xfrm>
          <a:prstGeom prst="rect">
            <a:avLst/>
          </a:prstGeom>
          <a:solidFill>
            <a:srgbClr val="C8881A"/>
          </a:solidFill>
          <a:ln/>
        </p:spPr>
      </p:sp>
      <p:sp>
        <p:nvSpPr>
          <p:cNvPr id="20" name="Text 18"/>
          <p:cNvSpPr/>
          <p:nvPr/>
        </p:nvSpPr>
        <p:spPr>
          <a:xfrm>
            <a:off x="3785616" y="3307080"/>
            <a:ext cx="3535528" cy="621792"/>
          </a:xfrm>
          <a:prstGeom prst="rect">
            <a:avLst/>
          </a:prstGeom>
          <a:noFill/>
          <a:ln/>
        </p:spPr>
        <p:txBody>
          <a:bodyPr wrap="square" lIns="0" tIns="0" rIns="0" bIns="0" rtlCol="0" anchor="t"/>
          <a:lstStyle/>
          <a:p>
            <a:pPr indent="0" marL="0">
              <a:lnSpc>
                <a:spcPts val="1400"/>
              </a:lnSpc>
              <a:buNone/>
            </a:pPr>
            <a:r>
              <a:rPr lang="en-US" sz="1150" b="1" dirty="0">
                <a:solidFill>
                  <a:srgbClr val="1F3864"/>
                </a:solidFill>
                <a:latin typeface="Calibri" pitchFamily="34" charset="0"/>
                <a:ea typeface="Calibri" pitchFamily="34" charset="-122"/>
                <a:cs typeface="Calibri" pitchFamily="34" charset="-120"/>
              </a:rPr>
              <a:t>Wi-Fi or old SIM already sufficient</a:t>
            </a:r>
            <a:endParaRPr lang="en-US" sz="1150" dirty="0"/>
          </a:p>
        </p:txBody>
      </p:sp>
      <p:sp>
        <p:nvSpPr>
          <p:cNvPr id="21" name="Text 19"/>
          <p:cNvSpPr/>
          <p:nvPr/>
        </p:nvSpPr>
        <p:spPr>
          <a:xfrm>
            <a:off x="3785616" y="3971544"/>
            <a:ext cx="3535528"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BC-05, BC-06</a:t>
            </a:r>
            <a:endParaRPr lang="en-US" sz="1000" dirty="0"/>
          </a:p>
        </p:txBody>
      </p:sp>
      <p:sp>
        <p:nvSpPr>
          <p:cNvPr id="22" name="Shape 20"/>
          <p:cNvSpPr/>
          <p:nvPr/>
        </p:nvSpPr>
        <p:spPr>
          <a:xfrm>
            <a:off x="7741768" y="3197352"/>
            <a:ext cx="3883000" cy="1103376"/>
          </a:xfrm>
          <a:prstGeom prst="roundRect">
            <a:avLst>
              <a:gd name="adj" fmla="val 4972"/>
            </a:avLst>
          </a:prstGeom>
          <a:solidFill>
            <a:srgbClr val="FFFFFF"/>
          </a:solidFill>
          <a:ln w="12700">
            <a:solidFill>
              <a:srgbClr val="CBD8EA"/>
            </a:solidFill>
            <a:prstDash val="solid"/>
          </a:ln>
        </p:spPr>
      </p:sp>
      <p:sp>
        <p:nvSpPr>
          <p:cNvPr id="23" name="Shape 21"/>
          <p:cNvSpPr/>
          <p:nvPr/>
        </p:nvSpPr>
        <p:spPr>
          <a:xfrm>
            <a:off x="7741768" y="3197352"/>
            <a:ext cx="64008" cy="1103376"/>
          </a:xfrm>
          <a:prstGeom prst="rect">
            <a:avLst/>
          </a:prstGeom>
          <a:solidFill>
            <a:srgbClr val="8E5BA6"/>
          </a:solidFill>
          <a:ln/>
        </p:spPr>
      </p:sp>
      <p:sp>
        <p:nvSpPr>
          <p:cNvPr id="24" name="Text 22"/>
          <p:cNvSpPr/>
          <p:nvPr/>
        </p:nvSpPr>
        <p:spPr>
          <a:xfrm>
            <a:off x="7942936" y="3307080"/>
            <a:ext cx="3535528" cy="621792"/>
          </a:xfrm>
          <a:prstGeom prst="rect">
            <a:avLst/>
          </a:prstGeom>
          <a:noFill/>
          <a:ln/>
        </p:spPr>
        <p:txBody>
          <a:bodyPr wrap="square" lIns="0" tIns="0" rIns="0" bIns="0" rtlCol="0" anchor="t"/>
          <a:lstStyle/>
          <a:p>
            <a:pPr indent="0" marL="0">
              <a:lnSpc>
                <a:spcPts val="1400"/>
              </a:lnSpc>
              <a:buNone/>
            </a:pPr>
            <a:r>
              <a:rPr lang="en-US" sz="1150" b="1" dirty="0">
                <a:solidFill>
                  <a:srgbClr val="1F3864"/>
                </a:solidFill>
                <a:latin typeface="Calibri" pitchFamily="34" charset="0"/>
                <a:ea typeface="Calibri" pitchFamily="34" charset="-122"/>
                <a:cs typeface="Calibri" pitchFamily="34" charset="-120"/>
              </a:rPr>
              <a:t>Device setting created false signal</a:t>
            </a:r>
            <a:endParaRPr lang="en-US" sz="1150" dirty="0"/>
          </a:p>
        </p:txBody>
      </p:sp>
      <p:sp>
        <p:nvSpPr>
          <p:cNvPr id="25" name="Text 23"/>
          <p:cNvSpPr/>
          <p:nvPr/>
        </p:nvSpPr>
        <p:spPr>
          <a:xfrm>
            <a:off x="7942936" y="3971544"/>
            <a:ext cx="3535528"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BC-17</a:t>
            </a:r>
            <a:endParaRPr lang="en-US" sz="1000" dirty="0"/>
          </a:p>
        </p:txBody>
      </p:sp>
      <p:sp>
        <p:nvSpPr>
          <p:cNvPr id="26" name="Shape 24"/>
          <p:cNvSpPr/>
          <p:nvPr/>
        </p:nvSpPr>
        <p:spPr>
          <a:xfrm>
            <a:off x="3584448" y="4520184"/>
            <a:ext cx="3883000" cy="1103376"/>
          </a:xfrm>
          <a:prstGeom prst="roundRect">
            <a:avLst>
              <a:gd name="adj" fmla="val 4972"/>
            </a:avLst>
          </a:prstGeom>
          <a:solidFill>
            <a:srgbClr val="FFFFFF"/>
          </a:solidFill>
          <a:ln w="12700">
            <a:solidFill>
              <a:srgbClr val="CBD8EA"/>
            </a:solidFill>
            <a:prstDash val="solid"/>
          </a:ln>
        </p:spPr>
      </p:sp>
      <p:sp>
        <p:nvSpPr>
          <p:cNvPr id="27" name="Shape 25"/>
          <p:cNvSpPr/>
          <p:nvPr/>
        </p:nvSpPr>
        <p:spPr>
          <a:xfrm>
            <a:off x="3584448" y="4520184"/>
            <a:ext cx="64008" cy="1103376"/>
          </a:xfrm>
          <a:prstGeom prst="rect">
            <a:avLst/>
          </a:prstGeom>
          <a:solidFill>
            <a:srgbClr val="C0504D"/>
          </a:solidFill>
          <a:ln/>
        </p:spPr>
      </p:sp>
      <p:sp>
        <p:nvSpPr>
          <p:cNvPr id="28" name="Text 26"/>
          <p:cNvSpPr/>
          <p:nvPr/>
        </p:nvSpPr>
        <p:spPr>
          <a:xfrm>
            <a:off x="3785616" y="4629912"/>
            <a:ext cx="3535528" cy="621792"/>
          </a:xfrm>
          <a:prstGeom prst="rect">
            <a:avLst/>
          </a:prstGeom>
          <a:noFill/>
          <a:ln/>
        </p:spPr>
        <p:txBody>
          <a:bodyPr wrap="square" lIns="0" tIns="0" rIns="0" bIns="0" rtlCol="0" anchor="t"/>
          <a:lstStyle/>
          <a:p>
            <a:pPr indent="0" marL="0">
              <a:lnSpc>
                <a:spcPts val="1400"/>
              </a:lnSpc>
              <a:buNone/>
            </a:pPr>
            <a:r>
              <a:rPr lang="en-US" sz="1150" b="1" dirty="0">
                <a:solidFill>
                  <a:srgbClr val="1F3864"/>
                </a:solidFill>
                <a:latin typeface="Calibri" pitchFamily="34" charset="0"/>
                <a:ea typeface="Calibri" pitchFamily="34" charset="-122"/>
                <a:cs typeface="Calibri" pitchFamily="34" charset="-120"/>
              </a:rPr>
              <a:t>Support timing did not fit routine</a:t>
            </a:r>
            <a:endParaRPr lang="en-US" sz="1150" dirty="0"/>
          </a:p>
        </p:txBody>
      </p:sp>
      <p:sp>
        <p:nvSpPr>
          <p:cNvPr id="29" name="Text 27"/>
          <p:cNvSpPr/>
          <p:nvPr/>
        </p:nvSpPr>
        <p:spPr>
          <a:xfrm>
            <a:off x="3785616" y="5294376"/>
            <a:ext cx="3535528"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BC-10</a:t>
            </a:r>
            <a:endParaRPr lang="en-US" sz="1000" dirty="0"/>
          </a:p>
        </p:txBody>
      </p:sp>
      <p:sp>
        <p:nvSpPr>
          <p:cNvPr id="30" name="Shape 28"/>
          <p:cNvSpPr/>
          <p:nvPr/>
        </p:nvSpPr>
        <p:spPr>
          <a:xfrm>
            <a:off x="7741768" y="4520184"/>
            <a:ext cx="3883000" cy="1103376"/>
          </a:xfrm>
          <a:prstGeom prst="roundRect">
            <a:avLst>
              <a:gd name="adj" fmla="val 4972"/>
            </a:avLst>
          </a:prstGeom>
          <a:solidFill>
            <a:srgbClr val="FFFFFF"/>
          </a:solidFill>
          <a:ln w="12700">
            <a:solidFill>
              <a:srgbClr val="CBD8EA"/>
            </a:solidFill>
            <a:prstDash val="solid"/>
          </a:ln>
        </p:spPr>
      </p:sp>
      <p:sp>
        <p:nvSpPr>
          <p:cNvPr id="31" name="Shape 29"/>
          <p:cNvSpPr/>
          <p:nvPr/>
        </p:nvSpPr>
        <p:spPr>
          <a:xfrm>
            <a:off x="7741768" y="4520184"/>
            <a:ext cx="64008" cy="1103376"/>
          </a:xfrm>
          <a:prstGeom prst="rect">
            <a:avLst/>
          </a:prstGeom>
          <a:solidFill>
            <a:srgbClr val="2E8B57"/>
          </a:solidFill>
          <a:ln/>
        </p:spPr>
      </p:sp>
      <p:sp>
        <p:nvSpPr>
          <p:cNvPr id="32" name="Text 30"/>
          <p:cNvSpPr/>
          <p:nvPr/>
        </p:nvSpPr>
        <p:spPr>
          <a:xfrm>
            <a:off x="7942936" y="4629912"/>
            <a:ext cx="3535528" cy="621792"/>
          </a:xfrm>
          <a:prstGeom prst="rect">
            <a:avLst/>
          </a:prstGeom>
          <a:noFill/>
          <a:ln/>
        </p:spPr>
        <p:txBody>
          <a:bodyPr wrap="square" lIns="0" tIns="0" rIns="0" bIns="0" rtlCol="0" anchor="t"/>
          <a:lstStyle/>
          <a:p>
            <a:pPr indent="0" marL="0">
              <a:lnSpc>
                <a:spcPts val="1400"/>
              </a:lnSpc>
              <a:buNone/>
            </a:pPr>
            <a:r>
              <a:rPr lang="en-US" sz="1150" b="1" dirty="0">
                <a:solidFill>
                  <a:srgbClr val="1F3864"/>
                </a:solidFill>
                <a:latin typeface="Calibri" pitchFamily="34" charset="0"/>
                <a:ea typeface="Calibri" pitchFamily="34" charset="-122"/>
                <a:cs typeface="Calibri" pitchFamily="34" charset="-120"/>
              </a:rPr>
              <a:t>Readiness became clear and adoption continued</a:t>
            </a:r>
            <a:endParaRPr lang="en-US" sz="1150" dirty="0"/>
          </a:p>
        </p:txBody>
      </p:sp>
      <p:sp>
        <p:nvSpPr>
          <p:cNvPr id="33" name="Text 31"/>
          <p:cNvSpPr/>
          <p:nvPr/>
        </p:nvSpPr>
        <p:spPr>
          <a:xfrm>
            <a:off x="7942936" y="5294376"/>
            <a:ext cx="3535528"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BC-16, BC-18</a:t>
            </a:r>
            <a:endParaRPr lang="en-US" sz="1000" dirty="0"/>
          </a:p>
        </p:txBody>
      </p:sp>
      <p:sp>
        <p:nvSpPr>
          <p:cNvPr id="34" name="Shape 32"/>
          <p:cNvSpPr/>
          <p:nvPr/>
        </p:nvSpPr>
        <p:spPr>
          <a:xfrm>
            <a:off x="566928" y="5806440"/>
            <a:ext cx="11057839" cy="548640"/>
          </a:xfrm>
          <a:prstGeom prst="roundRect">
            <a:avLst>
              <a:gd name="adj" fmla="val 10000"/>
            </a:avLst>
          </a:prstGeom>
          <a:solidFill>
            <a:srgbClr val="E3ECF7"/>
          </a:solidFill>
          <a:ln w="12700">
            <a:solidFill>
              <a:srgbClr val="1F3864"/>
            </a:solidFill>
            <a:prstDash val="solid"/>
          </a:ln>
        </p:spPr>
      </p:sp>
      <p:sp>
        <p:nvSpPr>
          <p:cNvPr id="35" name="Text 33"/>
          <p:cNvSpPr/>
          <p:nvPr/>
        </p:nvSpPr>
        <p:spPr>
          <a:xfrm>
            <a:off x="768096" y="5861304"/>
            <a:ext cx="10692079" cy="438912"/>
          </a:xfrm>
          <a:prstGeom prst="rect">
            <a:avLst/>
          </a:prstGeom>
          <a:noFill/>
          <a:ln/>
        </p:spPr>
        <p:txBody>
          <a:bodyPr wrap="square" lIns="0" tIns="0" rIns="0" bIns="0" rtlCol="0" anchor="ctr"/>
          <a:lstStyle/>
          <a:p>
            <a:pPr indent="0" marL="0">
              <a:lnSpc>
                <a:spcPts val="1400"/>
              </a:lnSpc>
              <a:buNone/>
            </a:pPr>
            <a:r>
              <a:rPr lang="en-US" sz="1150" b="1" dirty="0">
                <a:solidFill>
                  <a:srgbClr val="1F3864"/>
                </a:solidFill>
                <a:latin typeface="Calibri" pitchFamily="34" charset="0"/>
                <a:ea typeface="Calibri" pitchFamily="34" charset="-122"/>
                <a:cs typeface="Calibri" pitchFamily="34" charset="-120"/>
              </a:rPr>
              <a:t>Evidence note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Direct quotes, observed behaviour, team synthesis and boundary cases were kept separate during synthesis. This helps the team avoid treating interpreted feelings as interview facts.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Empathy Map — Deliverable 4.2</dc:title>
  <dc:subject>PptxGenJS Presentation</dc:subject>
  <dc:creator>Team Unity</dc:creator>
  <cp:lastModifiedBy>Team Unity</cp:lastModifiedBy>
  <cp:revision>1</cp:revision>
  <dcterms:created xsi:type="dcterms:W3CDTF">2026-09-08T13:26:29Z</dcterms:created>
  <dcterms:modified xsi:type="dcterms:W3CDTF">2026-09-08T13:26:29Z</dcterms:modified>
</cp:coreProperties>
</file>