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Shape 0"/>
          <p:cNvSpPr/>
          <p:nvPr/>
        </p:nvSpPr>
        <p:spPr>
          <a:xfrm>
            <a:off x="10881360" y="640080"/>
            <a:ext cx="502920" cy="502920"/>
          </a:xfrm>
          <a:prstGeom prst="ellipse">
            <a:avLst/>
          </a:prstGeom>
          <a:ln w="25400">
            <a:solidFill>
              <a:srgbClr val="0E8FCF"/>
            </a:solidFill>
            <a:prstDash val="solid"/>
          </a:ln>
        </p:spPr>
      </p:sp>
      <p:sp>
        <p:nvSpPr>
          <p:cNvPr id="3" name="Shape 1"/>
          <p:cNvSpPr/>
          <p:nvPr/>
        </p:nvSpPr>
        <p:spPr>
          <a:xfrm>
            <a:off x="11430000" y="1051560"/>
            <a:ext cx="365760" cy="365760"/>
          </a:xfrm>
          <a:prstGeom prst="ellipse">
            <a:avLst/>
          </a:prstGeom>
          <a:ln w="25400">
            <a:solidFill>
              <a:srgbClr val="0E8FCF"/>
            </a:solidFill>
            <a:prstDash val="solid"/>
          </a:ln>
        </p:spPr>
      </p:sp>
      <p:sp>
        <p:nvSpPr>
          <p:cNvPr id="4" name="Shape 2"/>
          <p:cNvSpPr/>
          <p:nvPr/>
        </p:nvSpPr>
        <p:spPr>
          <a:xfrm>
            <a:off x="10515600" y="1234440"/>
            <a:ext cx="310896" cy="310896"/>
          </a:xfrm>
          <a:prstGeom prst="ellipse">
            <a:avLst/>
          </a:prstGeom>
          <a:ln w="25400">
            <a:solidFill>
              <a:srgbClr val="0E8FCF"/>
            </a:solidFill>
            <a:prstDash val="solid"/>
          </a:ln>
        </p:spPr>
      </p:sp>
      <p:sp>
        <p:nvSpPr>
          <p:cNvPr id="5" name="Shape 3"/>
          <p:cNvSpPr/>
          <p:nvPr/>
        </p:nvSpPr>
        <p:spPr>
          <a:xfrm>
            <a:off x="11475720" y="411480"/>
            <a:ext cx="274320" cy="274320"/>
          </a:xfrm>
          <a:prstGeom prst="ellipse">
            <a:avLst/>
          </a:prstGeom>
          <a:ln w="25400">
            <a:solidFill>
              <a:srgbClr val="0E8FCF"/>
            </a:solidFill>
            <a:prstDash val="solid"/>
          </a:ln>
        </p:spPr>
      </p:sp>
      <p:sp>
        <p:nvSpPr>
          <p:cNvPr id="6" name="Shape 4"/>
          <p:cNvSpPr/>
          <p:nvPr/>
        </p:nvSpPr>
        <p:spPr>
          <a:xfrm>
            <a:off x="10195560" y="868680"/>
            <a:ext cx="237744" cy="237744"/>
          </a:xfrm>
          <a:prstGeom prst="ellipse">
            <a:avLst/>
          </a:prstGeom>
          <a:ln w="25400">
            <a:solidFill>
              <a:srgbClr val="0E8FCF"/>
            </a:solidFill>
            <a:prstDash val="solid"/>
          </a:ln>
        </p:spPr>
      </p:sp>
      <p:sp>
        <p:nvSpPr>
          <p:cNvPr id="7" name="Shape 5"/>
          <p:cNvSpPr/>
          <p:nvPr/>
        </p:nvSpPr>
        <p:spPr>
          <a:xfrm>
            <a:off x="11109960" y="1554480"/>
            <a:ext cx="256032" cy="256032"/>
          </a:xfrm>
          <a:prstGeom prst="ellipse">
            <a:avLst/>
          </a:prstGeom>
          <a:ln w="25400">
            <a:solidFill>
              <a:srgbClr val="0E8FCF"/>
            </a:solidFill>
            <a:prstDash val="solid"/>
          </a:ln>
        </p:spPr>
      </p:sp>
      <p:sp>
        <p:nvSpPr>
          <p:cNvPr id="8" name="Shape 6"/>
          <p:cNvSpPr/>
          <p:nvPr/>
        </p:nvSpPr>
        <p:spPr>
          <a:xfrm>
            <a:off x="11750040" y="1417320"/>
            <a:ext cx="201168" cy="201168"/>
          </a:xfrm>
          <a:prstGeom prst="ellipse">
            <a:avLst/>
          </a:prstGeom>
          <a:ln w="25400">
            <a:solidFill>
              <a:srgbClr val="0E8FCF"/>
            </a:solidFill>
            <a:prstDash val="solid"/>
          </a:ln>
        </p:spPr>
      </p:sp>
      <p:sp>
        <p:nvSpPr>
          <p:cNvPr id="9" name="Text 7"/>
          <p:cNvSpPr/>
          <p:nvPr/>
        </p:nvSpPr>
        <p:spPr>
          <a:xfrm>
            <a:off x="566928" y="548640"/>
            <a:ext cx="8686800" cy="274320"/>
          </a:xfrm>
          <a:prstGeom prst="rect">
            <a:avLst/>
          </a:prstGeom>
          <a:noFill/>
          <a:ln/>
        </p:spPr>
        <p:txBody>
          <a:bodyPr wrap="square" lIns="0" tIns="0" rIns="0" bIns="0" rtlCol="0" anchor="ctr"/>
          <a:lstStyle/>
          <a:p>
            <a:pPr indent="0" marL="0">
              <a:buNone/>
            </a:pPr>
            <a:r>
              <a:rPr lang="en-US" sz="1200" b="1" spc="200" kern="0" dirty="0">
                <a:solidFill>
                  <a:srgbClr val="5EB6E4"/>
                </a:solidFill>
                <a:latin typeface="Calibri" pitchFamily="34" charset="0"/>
                <a:ea typeface="Calibri" pitchFamily="34" charset="-122"/>
                <a:cs typeface="Calibri" pitchFamily="34" charset="-120"/>
              </a:rPr>
              <a:t>ZMDT × IE BUSINESS SCHOOL   ·   MODULE 4 CAPSTONE</a:t>
            </a:r>
            <a:endParaRPr lang="en-US" sz="1200" dirty="0"/>
          </a:p>
        </p:txBody>
      </p:sp>
      <p:sp>
        <p:nvSpPr>
          <p:cNvPr id="10" name="Text 8"/>
          <p:cNvSpPr/>
          <p:nvPr/>
        </p:nvSpPr>
        <p:spPr>
          <a:xfrm>
            <a:off x="6309360" y="512064"/>
            <a:ext cx="3108960" cy="320040"/>
          </a:xfrm>
          <a:prstGeom prst="rect">
            <a:avLst/>
          </a:prstGeom>
          <a:noFill/>
          <a:ln/>
        </p:spPr>
        <p:txBody>
          <a:bodyPr wrap="square" lIns="0" tIns="0" rIns="0" bIns="0" rtlCol="0" anchor="ctr"/>
          <a:lstStyle/>
          <a:p>
            <a:pPr algn="r" indent="0" marL="0">
              <a:buNone/>
            </a:pPr>
            <a:r>
              <a:rPr lang="en-US" sz="1500" dirty="0">
                <a:solidFill>
                  <a:srgbClr val="5EB6E4"/>
                </a:solidFill>
                <a:latin typeface="Calibri" pitchFamily="34" charset="0"/>
                <a:ea typeface="Calibri" pitchFamily="34" charset="-122"/>
                <a:cs typeface="Calibri" pitchFamily="34" charset="-120"/>
              </a:rPr>
              <a:t>September 2026</a:t>
            </a:r>
            <a:endParaRPr lang="en-US" sz="1500" dirty="0"/>
          </a:p>
        </p:txBody>
      </p:sp>
      <p:sp>
        <p:nvSpPr>
          <p:cNvPr id="11" name="Text 9"/>
          <p:cNvSpPr/>
          <p:nvPr/>
        </p:nvSpPr>
        <p:spPr>
          <a:xfrm>
            <a:off x="566928" y="1371600"/>
            <a:ext cx="10789920" cy="137160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libri" pitchFamily="34" charset="0"/>
                <a:ea typeface="Calibri" pitchFamily="34" charset="-122"/>
                <a:cs typeface="Calibri" pitchFamily="34" charset="-120"/>
              </a:rPr>
              <a:t>VPC Circle — Customer Profile</a:t>
            </a:r>
            <a:endParaRPr lang="en-US" sz="4600" dirty="0"/>
          </a:p>
        </p:txBody>
      </p:sp>
      <p:sp>
        <p:nvSpPr>
          <p:cNvPr id="12" name="Text 10"/>
          <p:cNvSpPr/>
          <p:nvPr/>
        </p:nvSpPr>
        <p:spPr>
          <a:xfrm>
            <a:off x="566928" y="2926080"/>
            <a:ext cx="10515600" cy="365760"/>
          </a:xfrm>
          <a:prstGeom prst="rect">
            <a:avLst/>
          </a:prstGeom>
          <a:noFill/>
          <a:ln/>
        </p:spPr>
        <p:txBody>
          <a:bodyPr wrap="square" lIns="0" tIns="0" rIns="0" bIns="0" rtlCol="0" anchor="ctr"/>
          <a:lstStyle/>
          <a:p>
            <a:pPr indent="0" marL="0">
              <a:buNone/>
            </a:pPr>
            <a:r>
              <a:rPr lang="en-US" sz="1600" dirty="0">
                <a:solidFill>
                  <a:srgbClr val="5EB6E4"/>
                </a:solidFill>
                <a:latin typeface="Calibri" pitchFamily="34" charset="0"/>
                <a:ea typeface="Calibri" pitchFamily="34" charset="-122"/>
                <a:cs typeface="Calibri" pitchFamily="34" charset="-120"/>
              </a:rPr>
              <a:t>Deliverable 4.3  ·  Capstone Sprint 4  ·  Zain BranchConnect</a:t>
            </a:r>
            <a:endParaRPr lang="en-US" sz="1600" dirty="0"/>
          </a:p>
        </p:txBody>
      </p:sp>
      <p:sp>
        <p:nvSpPr>
          <p:cNvPr id="13" name="Shape 11"/>
          <p:cNvSpPr/>
          <p:nvPr/>
        </p:nvSpPr>
        <p:spPr>
          <a:xfrm>
            <a:off x="566928" y="3611880"/>
            <a:ext cx="82296" cy="685800"/>
          </a:xfrm>
          <a:prstGeom prst="rect">
            <a:avLst/>
          </a:prstGeom>
          <a:solidFill>
            <a:srgbClr val="0E8FCF"/>
          </a:solidFill>
          <a:ln/>
        </p:spPr>
      </p:sp>
      <p:sp>
        <p:nvSpPr>
          <p:cNvPr id="14" name="Text 12"/>
          <p:cNvSpPr/>
          <p:nvPr/>
        </p:nvSpPr>
        <p:spPr>
          <a:xfrm>
            <a:off x="822960" y="3566160"/>
            <a:ext cx="8229600" cy="749808"/>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TEAM UNITY</a:t>
            </a:r>
            <a:endParaRPr lang="en-US" sz="4200" dirty="0"/>
          </a:p>
        </p:txBody>
      </p:sp>
      <p:sp>
        <p:nvSpPr>
          <p:cNvPr id="15" name="Text 13"/>
          <p:cNvSpPr/>
          <p:nvPr/>
        </p:nvSpPr>
        <p:spPr>
          <a:xfrm>
            <a:off x="566928" y="4572000"/>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Course: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[ZN-CAP-23F1M4S9] ZMDT 2023 Fast Track 1 Capstone Course</a:t>
            </a:r>
            <a:endParaRPr lang="en-US" sz="1200" dirty="0"/>
          </a:p>
        </p:txBody>
      </p:sp>
      <p:sp>
        <p:nvSpPr>
          <p:cNvPr id="16" name="Text 14"/>
          <p:cNvSpPr/>
          <p:nvPr/>
        </p:nvSpPr>
        <p:spPr>
          <a:xfrm>
            <a:off x="566928" y="4910328"/>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Professor: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Valentin Garcia Alcocer</a:t>
            </a:r>
            <a:endParaRPr lang="en-US" sz="1200" dirty="0"/>
          </a:p>
        </p:txBody>
      </p:sp>
      <p:sp>
        <p:nvSpPr>
          <p:cNvPr id="17" name="Text 15"/>
          <p:cNvSpPr/>
          <p:nvPr/>
        </p:nvSpPr>
        <p:spPr>
          <a:xfrm>
            <a:off x="566928" y="5248656"/>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Tutor: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Pablo Valcárcel Castro</a:t>
            </a:r>
            <a:endParaRPr lang="en-US" sz="1200" dirty="0"/>
          </a:p>
        </p:txBody>
      </p:sp>
      <p:sp>
        <p:nvSpPr>
          <p:cNvPr id="18" name="Text 16"/>
          <p:cNvSpPr/>
          <p:nvPr/>
        </p:nvSpPr>
        <p:spPr>
          <a:xfrm>
            <a:off x="566928" y="5586984"/>
            <a:ext cx="11064240" cy="329184"/>
          </a:xfrm>
          <a:prstGeom prst="rect">
            <a:avLst/>
          </a:prstGeom>
          <a:noFill/>
          <a:ln/>
        </p:spPr>
        <p:txBody>
          <a:bodyPr wrap="square" lIns="0" tIns="0" rIns="0" bIns="0" rtlCol="0" anchor="t"/>
          <a:lstStyle/>
          <a:p>
            <a:pPr indent="0" marL="0">
              <a:lnSpc>
                <a:spcPts val="1400"/>
              </a:lnSpc>
              <a:buNone/>
            </a:pPr>
            <a:r>
              <a:rPr lang="en-US" sz="1200" b="1" dirty="0">
                <a:solidFill>
                  <a:srgbClr val="5EB6E4"/>
                </a:solidFill>
                <a:latin typeface="Calibri" pitchFamily="34" charset="0"/>
                <a:ea typeface="Calibri" pitchFamily="34" charset="-122"/>
                <a:cs typeface="Calibri" pitchFamily="34" charset="-120"/>
              </a:rPr>
              <a:t>Students:  </a:t>
            </a:r>
            <a:pPr indent="0" marL="0">
              <a:lnSpc>
                <a:spcPts val="1400"/>
              </a:lnSpc>
              <a:buNone/>
            </a:pPr>
            <a:r>
              <a:rPr lang="en-US" sz="1200" dirty="0">
                <a:solidFill>
                  <a:srgbClr val="E8EDF4"/>
                </a:solidFill>
                <a:latin typeface="Calibri" pitchFamily="34" charset="0"/>
                <a:ea typeface="Calibri" pitchFamily="34" charset="-122"/>
                <a:cs typeface="Calibri" pitchFamily="34" charset="-120"/>
              </a:rPr>
              <a:t>Abdullah Alshehri · Azza Fadul AbdelMannan Elfaki · Lara Haddad · Mohammad Alkhatib · Mohammed Almaimani · Sahar Ehsan</a:t>
            </a:r>
            <a:endParaRPr lang="en-US" sz="1200" dirty="0"/>
          </a:p>
        </p:txBody>
      </p:sp>
      <p:sp>
        <p:nvSpPr>
          <p:cNvPr id="19" name="Text 17"/>
          <p:cNvSpPr/>
          <p:nvPr/>
        </p:nvSpPr>
        <p:spPr>
          <a:xfrm>
            <a:off x="566928" y="6053328"/>
            <a:ext cx="11064240" cy="640080"/>
          </a:xfrm>
          <a:prstGeom prst="rect">
            <a:avLst/>
          </a:prstGeom>
          <a:noFill/>
          <a:ln/>
        </p:spPr>
        <p:txBody>
          <a:bodyPr wrap="square" lIns="0" tIns="0" rIns="0" bIns="0" rtlCol="0" anchor="t"/>
          <a:lstStyle/>
          <a:p>
            <a:pPr indent="0" marL="0">
              <a:lnSpc>
                <a:spcPts val="1200"/>
              </a:lnSpc>
              <a:buNone/>
            </a:pPr>
            <a:r>
              <a:rPr lang="en-US" sz="950" i="1" dirty="0">
                <a:solidFill>
                  <a:srgbClr val="9AA3AF"/>
                </a:solidFill>
                <a:latin typeface="Calibri" pitchFamily="34" charset="0"/>
                <a:ea typeface="Calibri" pitchFamily="34" charset="-122"/>
                <a:cs typeface="Calibri" pitchFamily="34" charset="-120"/>
              </a:rPr>
              <a:t>AI Acknowledgment: Generative AI tools (Claude and ChatGPT) were used to support drafting, organization, formatting, and language refinement of this deliverable according to the course template. The opportunity identification, evaluation, strategic choices, internal assumptions, and final validation remain the team’s own work, and the team takes full responsibility for the accuracy, integrity, and originality of the content.</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VALUE PROPOSITION CANVAS · CUSTOMER PROFILE</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VPC Circle: Majed</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4.3 VPC Circle</a:t>
            </a:r>
            <a:endParaRPr lang="en-US" sz="900" dirty="0"/>
          </a:p>
        </p:txBody>
      </p:sp>
      <p:sp>
        <p:nvSpPr>
          <p:cNvPr id="6" name="Text 4"/>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4</a:t>
            </a:r>
            <a:endParaRPr lang="en-US" sz="900" dirty="0"/>
          </a:p>
        </p:txBody>
      </p:sp>
      <p:pic>
        <p:nvPicPr>
          <p:cNvPr id="7" name="Image 0" descr="/tmp/avatar_majed.png">    </p:cNvPr>
          <p:cNvPicPr>
            <a:picLocks noChangeAspect="1"/>
          </p:cNvPicPr>
          <p:nvPr/>
        </p:nvPicPr>
        <p:blipFill>
          <a:blip r:embed="rId1"/>
          <a:stretch>
            <a:fillRect/>
          </a:stretch>
        </p:blipFill>
        <p:spPr>
          <a:xfrm>
            <a:off x="566928" y="1353312"/>
            <a:ext cx="731520" cy="731520"/>
          </a:xfrm>
          <a:prstGeom prst="rect">
            <a:avLst/>
          </a:prstGeom>
        </p:spPr>
      </p:pic>
      <p:sp>
        <p:nvSpPr>
          <p:cNvPr id="8" name="Text 5"/>
          <p:cNvSpPr/>
          <p:nvPr/>
        </p:nvSpPr>
        <p:spPr>
          <a:xfrm>
            <a:off x="1435608" y="1353312"/>
            <a:ext cx="10189159" cy="731520"/>
          </a:xfrm>
          <a:prstGeom prst="rect">
            <a:avLst/>
          </a:prstGeom>
          <a:noFill/>
          <a:ln/>
        </p:spPr>
        <p:txBody>
          <a:bodyPr wrap="square" lIns="0" tIns="0" rIns="0" bIns="0" rtlCol="0" anchor="ctr"/>
          <a:lstStyle/>
          <a:p>
            <a:pPr indent="0" marL="0">
              <a:lnSpc>
                <a:spcPts val="1400"/>
              </a:lnSpc>
              <a:buNone/>
            </a:pPr>
            <a:r>
              <a:rPr lang="en-US" sz="1100" i="1" dirty="0">
                <a:solidFill>
                  <a:srgbClr val="6B7280"/>
                </a:solidFill>
                <a:latin typeface="Calibri" pitchFamily="34" charset="0"/>
                <a:ea typeface="Calibri" pitchFamily="34" charset="-122"/>
                <a:cs typeface="Calibri" pitchFamily="34" charset="-120"/>
              </a:rPr>
              <a:t>Customer profile only: Jobs, Pains and Gains.   </a:t>
            </a:r>
            <a:pPr indent="0" marL="0">
              <a:lnSpc>
                <a:spcPts val="1400"/>
              </a:lnSpc>
              <a:buNone/>
            </a:pPr>
            <a:r>
              <a:rPr lang="en-US" sz="1100" b="1" dirty="0">
                <a:solidFill>
                  <a:srgbClr val="0E8FCF"/>
                </a:solidFill>
                <a:latin typeface="Calibri" pitchFamily="34" charset="0"/>
                <a:ea typeface="Calibri" pitchFamily="34" charset="-122"/>
                <a:cs typeface="Calibri" pitchFamily="34" charset="-120"/>
              </a:rPr>
              <a:t>Progress sought: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Prove the line deserves a place in daily routine.</a:t>
            </a:r>
            <a:endParaRPr lang="en-US" sz="1100" dirty="0"/>
          </a:p>
        </p:txBody>
      </p:sp>
      <p:sp>
        <p:nvSpPr>
          <p:cNvPr id="9" name="Shape 6"/>
          <p:cNvSpPr/>
          <p:nvPr/>
        </p:nvSpPr>
        <p:spPr>
          <a:xfrm>
            <a:off x="566928" y="2212848"/>
            <a:ext cx="3490874" cy="1783080"/>
          </a:xfrm>
          <a:prstGeom prst="roundRect">
            <a:avLst>
              <a:gd name="adj" fmla="val 3077"/>
            </a:avLst>
          </a:prstGeom>
          <a:solidFill>
            <a:srgbClr val="EFF4FB"/>
          </a:solidFill>
          <a:ln w="12700">
            <a:solidFill>
              <a:srgbClr val="CBD8EA"/>
            </a:solidFill>
            <a:prstDash val="solid"/>
          </a:ln>
        </p:spPr>
      </p:sp>
      <p:sp>
        <p:nvSpPr>
          <p:cNvPr id="10" name="Shape 7"/>
          <p:cNvSpPr/>
          <p:nvPr/>
        </p:nvSpPr>
        <p:spPr>
          <a:xfrm>
            <a:off x="566928" y="2212848"/>
            <a:ext cx="64008" cy="1783080"/>
          </a:xfrm>
          <a:prstGeom prst="rect">
            <a:avLst/>
          </a:prstGeom>
          <a:solidFill>
            <a:srgbClr val="0E8FCF"/>
          </a:solidFill>
          <a:ln/>
        </p:spPr>
      </p:sp>
      <p:sp>
        <p:nvSpPr>
          <p:cNvPr id="11" name="Text 8"/>
          <p:cNvSpPr/>
          <p:nvPr/>
        </p:nvSpPr>
        <p:spPr>
          <a:xfrm>
            <a:off x="768096"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CUSTOMER JOBS</a:t>
            </a:r>
            <a:endParaRPr lang="en-US" sz="1200" dirty="0"/>
          </a:p>
        </p:txBody>
      </p:sp>
      <p:sp>
        <p:nvSpPr>
          <p:cNvPr id="12" name="Text 9"/>
          <p:cNvSpPr/>
          <p:nvPr/>
        </p:nvSpPr>
        <p:spPr>
          <a:xfrm>
            <a:off x="804672"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Complete first task</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Confirm genuine usability</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Understand value/status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Decide whether to adopt</a:t>
            </a:r>
            <a:endParaRPr lang="en-US" sz="1060" dirty="0"/>
          </a:p>
        </p:txBody>
      </p:sp>
      <p:sp>
        <p:nvSpPr>
          <p:cNvPr id="13" name="Shape 10"/>
          <p:cNvSpPr/>
          <p:nvPr/>
        </p:nvSpPr>
        <p:spPr>
          <a:xfrm>
            <a:off x="4350410" y="2212848"/>
            <a:ext cx="3490874" cy="1783080"/>
          </a:xfrm>
          <a:prstGeom prst="roundRect">
            <a:avLst>
              <a:gd name="adj" fmla="val 3077"/>
            </a:avLst>
          </a:prstGeom>
          <a:solidFill>
            <a:srgbClr val="FDF2F2"/>
          </a:solidFill>
          <a:ln w="12700">
            <a:solidFill>
              <a:srgbClr val="CBD8EA"/>
            </a:solidFill>
            <a:prstDash val="solid"/>
          </a:ln>
        </p:spPr>
      </p:sp>
      <p:sp>
        <p:nvSpPr>
          <p:cNvPr id="14" name="Shape 11"/>
          <p:cNvSpPr/>
          <p:nvPr/>
        </p:nvSpPr>
        <p:spPr>
          <a:xfrm>
            <a:off x="4350410" y="2212848"/>
            <a:ext cx="64008" cy="1783080"/>
          </a:xfrm>
          <a:prstGeom prst="rect">
            <a:avLst/>
          </a:prstGeom>
          <a:solidFill>
            <a:srgbClr val="C0504D"/>
          </a:solidFill>
          <a:ln/>
        </p:spPr>
      </p:sp>
      <p:sp>
        <p:nvSpPr>
          <p:cNvPr id="15" name="Text 12"/>
          <p:cNvSpPr/>
          <p:nvPr/>
        </p:nvSpPr>
        <p:spPr>
          <a:xfrm>
            <a:off x="4551578"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PAINS</a:t>
            </a:r>
            <a:endParaRPr lang="en-US" sz="1200" dirty="0"/>
          </a:p>
        </p:txBody>
      </p:sp>
      <p:sp>
        <p:nvSpPr>
          <p:cNvPr id="16" name="Text 13"/>
          <p:cNvSpPr/>
          <p:nvPr/>
        </p:nvSpPr>
        <p:spPr>
          <a:xfrm>
            <a:off x="4588154"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Active does not mean ready</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Cause of failure unclear</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Fallback is easier</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Important task may fail</a:t>
            </a:r>
            <a:endParaRPr lang="en-US" sz="1060" dirty="0"/>
          </a:p>
        </p:txBody>
      </p:sp>
      <p:sp>
        <p:nvSpPr>
          <p:cNvPr id="17" name="Shape 14"/>
          <p:cNvSpPr/>
          <p:nvPr/>
        </p:nvSpPr>
        <p:spPr>
          <a:xfrm>
            <a:off x="8133893" y="2212848"/>
            <a:ext cx="3490874" cy="1783080"/>
          </a:xfrm>
          <a:prstGeom prst="roundRect">
            <a:avLst>
              <a:gd name="adj" fmla="val 3077"/>
            </a:avLst>
          </a:prstGeom>
          <a:solidFill>
            <a:srgbClr val="EAF6EE"/>
          </a:solidFill>
          <a:ln w="12700">
            <a:solidFill>
              <a:srgbClr val="CBD8EA"/>
            </a:solidFill>
            <a:prstDash val="solid"/>
          </a:ln>
        </p:spPr>
      </p:sp>
      <p:sp>
        <p:nvSpPr>
          <p:cNvPr id="18" name="Shape 15"/>
          <p:cNvSpPr/>
          <p:nvPr/>
        </p:nvSpPr>
        <p:spPr>
          <a:xfrm>
            <a:off x="8133893" y="2212848"/>
            <a:ext cx="64008" cy="1783080"/>
          </a:xfrm>
          <a:prstGeom prst="rect">
            <a:avLst/>
          </a:prstGeom>
          <a:solidFill>
            <a:srgbClr val="2E8B57"/>
          </a:solidFill>
          <a:ln/>
        </p:spPr>
      </p:sp>
      <p:sp>
        <p:nvSpPr>
          <p:cNvPr id="19" name="Text 16"/>
          <p:cNvSpPr/>
          <p:nvPr/>
        </p:nvSpPr>
        <p:spPr>
          <a:xfrm>
            <a:off x="8335061"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GAINS</a:t>
            </a:r>
            <a:endParaRPr lang="en-US" sz="1200" dirty="0"/>
          </a:p>
        </p:txBody>
      </p:sp>
      <p:sp>
        <p:nvSpPr>
          <p:cNvPr id="20" name="Text 17"/>
          <p:cNvSpPr/>
          <p:nvPr/>
        </p:nvSpPr>
        <p:spPr>
          <a:xfrm>
            <a:off x="8371637"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Proof of readiness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Clear status/value</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Simple next action</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Confidence to switch routine</a:t>
            </a:r>
            <a:endParaRPr lang="en-US" sz="1060" dirty="0"/>
          </a:p>
        </p:txBody>
      </p:sp>
      <p:sp>
        <p:nvSpPr>
          <p:cNvPr id="21" name="Text 18"/>
          <p:cNvSpPr/>
          <p:nvPr/>
        </p:nvSpPr>
        <p:spPr>
          <a:xfrm>
            <a:off x="566928" y="4133088"/>
            <a:ext cx="11057839" cy="25603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Priority chains</a:t>
            </a:r>
            <a:endParaRPr lang="en-US" sz="1250" dirty="0"/>
          </a:p>
        </p:txBody>
      </p:sp>
      <p:sp>
        <p:nvSpPr>
          <p:cNvPr id="22" name="Shape 19"/>
          <p:cNvSpPr/>
          <p:nvPr/>
        </p:nvSpPr>
        <p:spPr>
          <a:xfrm>
            <a:off x="566928" y="4443984"/>
            <a:ext cx="3533546" cy="420624"/>
          </a:xfrm>
          <a:prstGeom prst="roundRect">
            <a:avLst>
              <a:gd name="adj" fmla="val 17391"/>
            </a:avLst>
          </a:prstGeom>
          <a:solidFill>
            <a:srgbClr val="E3ECF7"/>
          </a:solidFill>
          <a:ln w="12700">
            <a:solidFill>
              <a:srgbClr val="1F3864"/>
            </a:solidFill>
            <a:prstDash val="solid"/>
          </a:ln>
        </p:spPr>
      </p:sp>
      <p:sp>
        <p:nvSpPr>
          <p:cNvPr id="23" name="Text 20"/>
          <p:cNvSpPr/>
          <p:nvPr/>
        </p:nvSpPr>
        <p:spPr>
          <a:xfrm>
            <a:off x="676656"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Complete first meaningful task</a:t>
            </a:r>
            <a:endParaRPr lang="en-US" sz="980" dirty="0"/>
          </a:p>
        </p:txBody>
      </p:sp>
      <p:sp>
        <p:nvSpPr>
          <p:cNvPr id="24" name="Text 21"/>
          <p:cNvSpPr/>
          <p:nvPr/>
        </p:nvSpPr>
        <p:spPr>
          <a:xfrm>
            <a:off x="4118762" y="4462272"/>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25" name="Shape 22"/>
          <p:cNvSpPr/>
          <p:nvPr/>
        </p:nvSpPr>
        <p:spPr>
          <a:xfrm>
            <a:off x="4329074" y="4443984"/>
            <a:ext cx="3533546" cy="420624"/>
          </a:xfrm>
          <a:prstGeom prst="roundRect">
            <a:avLst>
              <a:gd name="adj" fmla="val 17391"/>
            </a:avLst>
          </a:prstGeom>
          <a:solidFill>
            <a:srgbClr val="FDF2F2"/>
          </a:solidFill>
          <a:ln w="12700">
            <a:solidFill>
              <a:srgbClr val="C0504D"/>
            </a:solidFill>
            <a:prstDash val="solid"/>
          </a:ln>
        </p:spPr>
      </p:sp>
      <p:sp>
        <p:nvSpPr>
          <p:cNvPr id="26" name="Text 23"/>
          <p:cNvSpPr/>
          <p:nvPr/>
        </p:nvSpPr>
        <p:spPr>
          <a:xfrm>
            <a:off x="4438802"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active does not prove usable</a:t>
            </a:r>
            <a:endParaRPr lang="en-US" sz="980" dirty="0"/>
          </a:p>
        </p:txBody>
      </p:sp>
      <p:sp>
        <p:nvSpPr>
          <p:cNvPr id="27" name="Text 24"/>
          <p:cNvSpPr/>
          <p:nvPr/>
        </p:nvSpPr>
        <p:spPr>
          <a:xfrm>
            <a:off x="7880909" y="4462272"/>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28" name="Shape 25"/>
          <p:cNvSpPr/>
          <p:nvPr/>
        </p:nvSpPr>
        <p:spPr>
          <a:xfrm>
            <a:off x="8091221" y="4443984"/>
            <a:ext cx="3533546" cy="420624"/>
          </a:xfrm>
          <a:prstGeom prst="roundRect">
            <a:avLst>
              <a:gd name="adj" fmla="val 17391"/>
            </a:avLst>
          </a:prstGeom>
          <a:solidFill>
            <a:srgbClr val="EAF6EE"/>
          </a:solidFill>
          <a:ln w="12700">
            <a:solidFill>
              <a:srgbClr val="2E8B57"/>
            </a:solidFill>
            <a:prstDash val="solid"/>
          </a:ln>
        </p:spPr>
      </p:sp>
      <p:sp>
        <p:nvSpPr>
          <p:cNvPr id="29" name="Text 26"/>
          <p:cNvSpPr/>
          <p:nvPr/>
        </p:nvSpPr>
        <p:spPr>
          <a:xfrm>
            <a:off x="8200949"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proof the line is ready</a:t>
            </a:r>
            <a:endParaRPr lang="en-US" sz="980" dirty="0"/>
          </a:p>
        </p:txBody>
      </p:sp>
      <p:sp>
        <p:nvSpPr>
          <p:cNvPr id="30" name="Shape 27"/>
          <p:cNvSpPr/>
          <p:nvPr/>
        </p:nvSpPr>
        <p:spPr>
          <a:xfrm>
            <a:off x="566928" y="4956048"/>
            <a:ext cx="3533546" cy="420624"/>
          </a:xfrm>
          <a:prstGeom prst="roundRect">
            <a:avLst>
              <a:gd name="adj" fmla="val 17391"/>
            </a:avLst>
          </a:prstGeom>
          <a:solidFill>
            <a:srgbClr val="E3ECF7"/>
          </a:solidFill>
          <a:ln w="12700">
            <a:solidFill>
              <a:srgbClr val="1F3864"/>
            </a:solidFill>
            <a:prstDash val="solid"/>
          </a:ln>
        </p:spPr>
      </p:sp>
      <p:sp>
        <p:nvSpPr>
          <p:cNvPr id="31" name="Text 28"/>
          <p:cNvSpPr/>
          <p:nvPr/>
        </p:nvSpPr>
        <p:spPr>
          <a:xfrm>
            <a:off x="676656"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Decide whether to retry, recharge, wait or return</a:t>
            </a:r>
            <a:endParaRPr lang="en-US" sz="980" dirty="0"/>
          </a:p>
        </p:txBody>
      </p:sp>
      <p:sp>
        <p:nvSpPr>
          <p:cNvPr id="32" name="Text 29"/>
          <p:cNvSpPr/>
          <p:nvPr/>
        </p:nvSpPr>
        <p:spPr>
          <a:xfrm>
            <a:off x="4118762" y="4974336"/>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33" name="Shape 30"/>
          <p:cNvSpPr/>
          <p:nvPr/>
        </p:nvSpPr>
        <p:spPr>
          <a:xfrm>
            <a:off x="4329074" y="4956048"/>
            <a:ext cx="3533546" cy="420624"/>
          </a:xfrm>
          <a:prstGeom prst="roundRect">
            <a:avLst>
              <a:gd name="adj" fmla="val 17391"/>
            </a:avLst>
          </a:prstGeom>
          <a:solidFill>
            <a:srgbClr val="FDF2F2"/>
          </a:solidFill>
          <a:ln w="12700">
            <a:solidFill>
              <a:srgbClr val="C0504D"/>
            </a:solidFill>
            <a:prstDash val="solid"/>
          </a:ln>
        </p:spPr>
      </p:sp>
      <p:sp>
        <p:nvSpPr>
          <p:cNvPr id="34" name="Text 31"/>
          <p:cNvSpPr/>
          <p:nvPr/>
        </p:nvSpPr>
        <p:spPr>
          <a:xfrm>
            <a:off x="4438802"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root cause is unclear</a:t>
            </a:r>
            <a:endParaRPr lang="en-US" sz="980" dirty="0"/>
          </a:p>
        </p:txBody>
      </p:sp>
      <p:sp>
        <p:nvSpPr>
          <p:cNvPr id="35" name="Text 32"/>
          <p:cNvSpPr/>
          <p:nvPr/>
        </p:nvSpPr>
        <p:spPr>
          <a:xfrm>
            <a:off x="7880909" y="4974336"/>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36" name="Shape 33"/>
          <p:cNvSpPr/>
          <p:nvPr/>
        </p:nvSpPr>
        <p:spPr>
          <a:xfrm>
            <a:off x="8091221" y="4956048"/>
            <a:ext cx="3533546" cy="420624"/>
          </a:xfrm>
          <a:prstGeom prst="roundRect">
            <a:avLst>
              <a:gd name="adj" fmla="val 17391"/>
            </a:avLst>
          </a:prstGeom>
          <a:solidFill>
            <a:srgbClr val="EAF6EE"/>
          </a:solidFill>
          <a:ln w="12700">
            <a:solidFill>
              <a:srgbClr val="2E8B57"/>
            </a:solidFill>
            <a:prstDash val="solid"/>
          </a:ln>
        </p:spPr>
      </p:sp>
      <p:sp>
        <p:nvSpPr>
          <p:cNvPr id="37" name="Text 34"/>
          <p:cNvSpPr/>
          <p:nvPr/>
        </p:nvSpPr>
        <p:spPr>
          <a:xfrm>
            <a:off x="8200949"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obvious next step</a:t>
            </a:r>
            <a:endParaRPr lang="en-US" sz="980" dirty="0"/>
          </a:p>
        </p:txBody>
      </p:sp>
      <p:sp>
        <p:nvSpPr>
          <p:cNvPr id="38" name="Shape 35"/>
          <p:cNvSpPr/>
          <p:nvPr/>
        </p:nvSpPr>
        <p:spPr>
          <a:xfrm>
            <a:off x="566928" y="5468112"/>
            <a:ext cx="3533546" cy="420624"/>
          </a:xfrm>
          <a:prstGeom prst="roundRect">
            <a:avLst>
              <a:gd name="adj" fmla="val 17391"/>
            </a:avLst>
          </a:prstGeom>
          <a:solidFill>
            <a:srgbClr val="E3ECF7"/>
          </a:solidFill>
          <a:ln w="12700">
            <a:solidFill>
              <a:srgbClr val="1F3864"/>
            </a:solidFill>
            <a:prstDash val="solid"/>
          </a:ln>
        </p:spPr>
      </p:sp>
      <p:sp>
        <p:nvSpPr>
          <p:cNvPr id="39" name="Text 36"/>
          <p:cNvSpPr/>
          <p:nvPr/>
        </p:nvSpPr>
        <p:spPr>
          <a:xfrm>
            <a:off x="676656"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Keep important tasks working</a:t>
            </a:r>
            <a:endParaRPr lang="en-US" sz="980" dirty="0"/>
          </a:p>
        </p:txBody>
      </p:sp>
      <p:sp>
        <p:nvSpPr>
          <p:cNvPr id="40" name="Text 37"/>
          <p:cNvSpPr/>
          <p:nvPr/>
        </p:nvSpPr>
        <p:spPr>
          <a:xfrm>
            <a:off x="4118762" y="5486400"/>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41" name="Shape 38"/>
          <p:cNvSpPr/>
          <p:nvPr/>
        </p:nvSpPr>
        <p:spPr>
          <a:xfrm>
            <a:off x="4329074" y="5468112"/>
            <a:ext cx="3533546" cy="420624"/>
          </a:xfrm>
          <a:prstGeom prst="roundRect">
            <a:avLst>
              <a:gd name="adj" fmla="val 17391"/>
            </a:avLst>
          </a:prstGeom>
          <a:solidFill>
            <a:srgbClr val="FDF2F2"/>
          </a:solidFill>
          <a:ln w="12700">
            <a:solidFill>
              <a:srgbClr val="C0504D"/>
            </a:solidFill>
            <a:prstDash val="solid"/>
          </a:ln>
        </p:spPr>
      </p:sp>
      <p:sp>
        <p:nvSpPr>
          <p:cNvPr id="42" name="Text 39"/>
          <p:cNvSpPr/>
          <p:nvPr/>
        </p:nvSpPr>
        <p:spPr>
          <a:xfrm>
            <a:off x="4438802"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fallback feels safer</a:t>
            </a:r>
            <a:endParaRPr lang="en-US" sz="980" dirty="0"/>
          </a:p>
        </p:txBody>
      </p:sp>
      <p:sp>
        <p:nvSpPr>
          <p:cNvPr id="43" name="Text 40"/>
          <p:cNvSpPr/>
          <p:nvPr/>
        </p:nvSpPr>
        <p:spPr>
          <a:xfrm>
            <a:off x="7880909" y="5486400"/>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44" name="Shape 41"/>
          <p:cNvSpPr/>
          <p:nvPr/>
        </p:nvSpPr>
        <p:spPr>
          <a:xfrm>
            <a:off x="8091221" y="5468112"/>
            <a:ext cx="3533546" cy="420624"/>
          </a:xfrm>
          <a:prstGeom prst="roundRect">
            <a:avLst>
              <a:gd name="adj" fmla="val 17391"/>
            </a:avLst>
          </a:prstGeom>
          <a:solidFill>
            <a:srgbClr val="EAF6EE"/>
          </a:solidFill>
          <a:ln w="12700">
            <a:solidFill>
              <a:srgbClr val="2E8B57"/>
            </a:solidFill>
            <a:prstDash val="solid"/>
          </a:ln>
        </p:spPr>
      </p:sp>
      <p:sp>
        <p:nvSpPr>
          <p:cNvPr id="45" name="Text 42"/>
          <p:cNvSpPr/>
          <p:nvPr/>
        </p:nvSpPr>
        <p:spPr>
          <a:xfrm>
            <a:off x="8200949"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reason to make the new line routine</a:t>
            </a:r>
            <a:endParaRPr lang="en-US" sz="980" dirty="0"/>
          </a:p>
        </p:txBody>
      </p:sp>
      <p:sp>
        <p:nvSpPr>
          <p:cNvPr id="46" name="Shape 43"/>
          <p:cNvSpPr/>
          <p:nvPr/>
        </p:nvSpPr>
        <p:spPr>
          <a:xfrm>
            <a:off x="566928" y="6035040"/>
            <a:ext cx="11057839" cy="384048"/>
          </a:xfrm>
          <a:prstGeom prst="roundRect">
            <a:avLst>
              <a:gd name="adj" fmla="val 14286"/>
            </a:avLst>
          </a:prstGeom>
          <a:solidFill>
            <a:srgbClr val="EFF4FB"/>
          </a:solidFill>
          <a:ln w="12700">
            <a:solidFill>
              <a:srgbClr val="0E8FCF"/>
            </a:solidFill>
            <a:prstDash val="solid"/>
          </a:ln>
        </p:spPr>
      </p:sp>
      <p:sp>
        <p:nvSpPr>
          <p:cNvPr id="47" name="Text 44"/>
          <p:cNvSpPr/>
          <p:nvPr/>
        </p:nvSpPr>
        <p:spPr>
          <a:xfrm>
            <a:off x="768096" y="6089904"/>
            <a:ext cx="10692079" cy="274320"/>
          </a:xfrm>
          <a:prstGeom prst="rect">
            <a:avLst/>
          </a:prstGeom>
          <a:noFill/>
          <a:ln/>
        </p:spPr>
        <p:txBody>
          <a:bodyPr wrap="square" lIns="0" tIns="0" rIns="0" bIns="0" rtlCol="0" anchor="ctr"/>
          <a:lstStyle/>
          <a:p>
            <a:pPr indent="0" marL="0">
              <a:lnSpc>
                <a:spcPts val="1400"/>
              </a:lnSpc>
              <a:buNone/>
            </a:pPr>
            <a:r>
              <a:rPr lang="en-US" sz="1150" b="1" dirty="0">
                <a:solidFill>
                  <a:srgbClr val="0E8FCF"/>
                </a:solidFill>
                <a:latin typeface="Calibri" pitchFamily="34" charset="0"/>
                <a:ea typeface="Calibri" pitchFamily="34" charset="-122"/>
                <a:cs typeface="Calibri" pitchFamily="34" charset="-120"/>
              </a:rPr>
              <a:t>What this tells us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Majed is not trying to “use telecom.” He is trying to prove that a new line can reliably carry the task that made it worth acquiring.   ·   Customer side only. Product, pain relievers and gain creators stay out of Sprint 4.</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2E86AB"/>
                </a:solidFill>
                <a:latin typeface="Calibri" pitchFamily="34" charset="0"/>
                <a:ea typeface="Calibri" pitchFamily="34" charset="-122"/>
                <a:cs typeface="Calibri" pitchFamily="34" charset="-120"/>
              </a:rPr>
              <a:t>VALUE PROPOSITION CANVAS · CUSTOMER PROFILE</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700"/>
              </a:lnSpc>
              <a:buNone/>
            </a:pPr>
            <a:r>
              <a:rPr lang="en-US" sz="2400" b="1" dirty="0">
                <a:solidFill>
                  <a:srgbClr val="1F3864"/>
                </a:solidFill>
                <a:latin typeface="Calibri" pitchFamily="34" charset="0"/>
                <a:ea typeface="Calibri" pitchFamily="34" charset="-122"/>
                <a:cs typeface="Calibri" pitchFamily="34" charset="-120"/>
              </a:rPr>
              <a:t>VPC Circle: Alya</a:t>
            </a:r>
            <a:endParaRPr lang="en-US" sz="24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4.3 VPC Circle</a:t>
            </a:r>
            <a:endParaRPr lang="en-US" sz="900" dirty="0"/>
          </a:p>
        </p:txBody>
      </p:sp>
      <p:sp>
        <p:nvSpPr>
          <p:cNvPr id="6" name="Text 4"/>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4</a:t>
            </a:r>
            <a:endParaRPr lang="en-US" sz="900" dirty="0"/>
          </a:p>
        </p:txBody>
      </p:sp>
      <p:pic>
        <p:nvPicPr>
          <p:cNvPr id="7" name="Image 0" descr="/tmp/avatar_alya.png">    </p:cNvPr>
          <p:cNvPicPr>
            <a:picLocks noChangeAspect="1"/>
          </p:cNvPicPr>
          <p:nvPr/>
        </p:nvPicPr>
        <p:blipFill>
          <a:blip r:embed="rId1"/>
          <a:stretch>
            <a:fillRect/>
          </a:stretch>
        </p:blipFill>
        <p:spPr>
          <a:xfrm>
            <a:off x="566928" y="1353312"/>
            <a:ext cx="731520" cy="731520"/>
          </a:xfrm>
          <a:prstGeom prst="rect">
            <a:avLst/>
          </a:prstGeom>
        </p:spPr>
      </p:pic>
      <p:sp>
        <p:nvSpPr>
          <p:cNvPr id="8" name="Text 5"/>
          <p:cNvSpPr/>
          <p:nvPr/>
        </p:nvSpPr>
        <p:spPr>
          <a:xfrm>
            <a:off x="1435608" y="1353312"/>
            <a:ext cx="10189159" cy="731520"/>
          </a:xfrm>
          <a:prstGeom prst="rect">
            <a:avLst/>
          </a:prstGeom>
          <a:noFill/>
          <a:ln/>
        </p:spPr>
        <p:txBody>
          <a:bodyPr wrap="square" lIns="0" tIns="0" rIns="0" bIns="0" rtlCol="0" anchor="ctr"/>
          <a:lstStyle/>
          <a:p>
            <a:pPr indent="0" marL="0">
              <a:lnSpc>
                <a:spcPts val="1400"/>
              </a:lnSpc>
              <a:buNone/>
            </a:pPr>
            <a:r>
              <a:rPr lang="en-US" sz="1100" i="1" dirty="0">
                <a:solidFill>
                  <a:srgbClr val="6B7280"/>
                </a:solidFill>
                <a:latin typeface="Calibri" pitchFamily="34" charset="0"/>
                <a:ea typeface="Calibri" pitchFamily="34" charset="-122"/>
                <a:cs typeface="Calibri" pitchFamily="34" charset="-120"/>
              </a:rPr>
              <a:t>Customer profile only: Jobs, Pains and Gains.   </a:t>
            </a:r>
            <a:pPr indent="0" marL="0">
              <a:lnSpc>
                <a:spcPts val="1400"/>
              </a:lnSpc>
              <a:buNone/>
            </a:pPr>
            <a:r>
              <a:rPr lang="en-US" sz="1100" b="1" dirty="0">
                <a:solidFill>
                  <a:srgbClr val="2E86AB"/>
                </a:solidFill>
                <a:latin typeface="Calibri" pitchFamily="34" charset="0"/>
                <a:ea typeface="Calibri" pitchFamily="34" charset="-122"/>
                <a:cs typeface="Calibri" pitchFamily="34" charset="-120"/>
              </a:rPr>
              <a:t>Progress sought: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Continue safely after assisted setup has ended.</a:t>
            </a:r>
            <a:endParaRPr lang="en-US" sz="1100" dirty="0"/>
          </a:p>
        </p:txBody>
      </p:sp>
      <p:sp>
        <p:nvSpPr>
          <p:cNvPr id="9" name="Shape 6"/>
          <p:cNvSpPr/>
          <p:nvPr/>
        </p:nvSpPr>
        <p:spPr>
          <a:xfrm>
            <a:off x="566928" y="2212848"/>
            <a:ext cx="3490874" cy="1783080"/>
          </a:xfrm>
          <a:prstGeom prst="roundRect">
            <a:avLst>
              <a:gd name="adj" fmla="val 3077"/>
            </a:avLst>
          </a:prstGeom>
          <a:solidFill>
            <a:srgbClr val="EFF4FB"/>
          </a:solidFill>
          <a:ln w="12700">
            <a:solidFill>
              <a:srgbClr val="CBD8EA"/>
            </a:solidFill>
            <a:prstDash val="solid"/>
          </a:ln>
        </p:spPr>
      </p:sp>
      <p:sp>
        <p:nvSpPr>
          <p:cNvPr id="10" name="Shape 7"/>
          <p:cNvSpPr/>
          <p:nvPr/>
        </p:nvSpPr>
        <p:spPr>
          <a:xfrm>
            <a:off x="566928" y="2212848"/>
            <a:ext cx="64008" cy="1783080"/>
          </a:xfrm>
          <a:prstGeom prst="rect">
            <a:avLst/>
          </a:prstGeom>
          <a:solidFill>
            <a:srgbClr val="0E8FCF"/>
          </a:solidFill>
          <a:ln/>
        </p:spPr>
      </p:sp>
      <p:sp>
        <p:nvSpPr>
          <p:cNvPr id="11" name="Text 8"/>
          <p:cNvSpPr/>
          <p:nvPr/>
        </p:nvSpPr>
        <p:spPr>
          <a:xfrm>
            <a:off x="768096"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CUSTOMER JOBS</a:t>
            </a:r>
            <a:endParaRPr lang="en-US" sz="1200" dirty="0"/>
          </a:p>
        </p:txBody>
      </p:sp>
      <p:sp>
        <p:nvSpPr>
          <p:cNvPr id="12" name="Text 9"/>
          <p:cNvSpPr/>
          <p:nvPr/>
        </p:nvSpPr>
        <p:spPr>
          <a:xfrm>
            <a:off x="804672"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Continue after handover</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Check balance/data/status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Test safely</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Guide actual user</a:t>
            </a:r>
            <a:endParaRPr lang="en-US" sz="1060" dirty="0"/>
          </a:p>
        </p:txBody>
      </p:sp>
      <p:sp>
        <p:nvSpPr>
          <p:cNvPr id="13" name="Shape 10"/>
          <p:cNvSpPr/>
          <p:nvPr/>
        </p:nvSpPr>
        <p:spPr>
          <a:xfrm>
            <a:off x="4350410" y="2212848"/>
            <a:ext cx="3490874" cy="1783080"/>
          </a:xfrm>
          <a:prstGeom prst="roundRect">
            <a:avLst>
              <a:gd name="adj" fmla="val 3077"/>
            </a:avLst>
          </a:prstGeom>
          <a:solidFill>
            <a:srgbClr val="FDF2F2"/>
          </a:solidFill>
          <a:ln w="12700">
            <a:solidFill>
              <a:srgbClr val="CBD8EA"/>
            </a:solidFill>
            <a:prstDash val="solid"/>
          </a:ln>
        </p:spPr>
      </p:sp>
      <p:sp>
        <p:nvSpPr>
          <p:cNvPr id="14" name="Shape 11"/>
          <p:cNvSpPr/>
          <p:nvPr/>
        </p:nvSpPr>
        <p:spPr>
          <a:xfrm>
            <a:off x="4350410" y="2212848"/>
            <a:ext cx="64008" cy="1783080"/>
          </a:xfrm>
          <a:prstGeom prst="rect">
            <a:avLst/>
          </a:prstGeom>
          <a:solidFill>
            <a:srgbClr val="C0504D"/>
          </a:solidFill>
          <a:ln/>
        </p:spPr>
      </p:sp>
      <p:sp>
        <p:nvSpPr>
          <p:cNvPr id="15" name="Text 12"/>
          <p:cNvSpPr/>
          <p:nvPr/>
        </p:nvSpPr>
        <p:spPr>
          <a:xfrm>
            <a:off x="4551578"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PAINS</a:t>
            </a:r>
            <a:endParaRPr lang="en-US" sz="1200" dirty="0"/>
          </a:p>
        </p:txBody>
      </p:sp>
      <p:sp>
        <p:nvSpPr>
          <p:cNvPr id="16" name="Text 13"/>
          <p:cNvSpPr/>
          <p:nvPr/>
        </p:nvSpPr>
        <p:spPr>
          <a:xfrm>
            <a:off x="4588154"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Confidence drops at home</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Cost/value unclear</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Fear of wrong action</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Support timing mismatch</a:t>
            </a:r>
            <a:endParaRPr lang="en-US" sz="1060" dirty="0"/>
          </a:p>
        </p:txBody>
      </p:sp>
      <p:sp>
        <p:nvSpPr>
          <p:cNvPr id="17" name="Shape 14"/>
          <p:cNvSpPr/>
          <p:nvPr/>
        </p:nvSpPr>
        <p:spPr>
          <a:xfrm>
            <a:off x="8133893" y="2212848"/>
            <a:ext cx="3490874" cy="1783080"/>
          </a:xfrm>
          <a:prstGeom prst="roundRect">
            <a:avLst>
              <a:gd name="adj" fmla="val 3077"/>
            </a:avLst>
          </a:prstGeom>
          <a:solidFill>
            <a:srgbClr val="EAF6EE"/>
          </a:solidFill>
          <a:ln w="12700">
            <a:solidFill>
              <a:srgbClr val="CBD8EA"/>
            </a:solidFill>
            <a:prstDash val="solid"/>
          </a:ln>
        </p:spPr>
      </p:sp>
      <p:sp>
        <p:nvSpPr>
          <p:cNvPr id="18" name="Shape 15"/>
          <p:cNvSpPr/>
          <p:nvPr/>
        </p:nvSpPr>
        <p:spPr>
          <a:xfrm>
            <a:off x="8133893" y="2212848"/>
            <a:ext cx="64008" cy="1783080"/>
          </a:xfrm>
          <a:prstGeom prst="rect">
            <a:avLst/>
          </a:prstGeom>
          <a:solidFill>
            <a:srgbClr val="2E8B57"/>
          </a:solidFill>
          <a:ln/>
        </p:spPr>
      </p:sp>
      <p:sp>
        <p:nvSpPr>
          <p:cNvPr id="19" name="Text 16"/>
          <p:cNvSpPr/>
          <p:nvPr/>
        </p:nvSpPr>
        <p:spPr>
          <a:xfrm>
            <a:off x="8335061" y="2304288"/>
            <a:ext cx="3161690" cy="292608"/>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GAINS</a:t>
            </a:r>
            <a:endParaRPr lang="en-US" sz="1200" dirty="0"/>
          </a:p>
        </p:txBody>
      </p:sp>
      <p:sp>
        <p:nvSpPr>
          <p:cNvPr id="20" name="Text 17"/>
          <p:cNvSpPr/>
          <p:nvPr/>
        </p:nvSpPr>
        <p:spPr>
          <a:xfrm>
            <a:off x="8371637" y="2615184"/>
            <a:ext cx="3088538" cy="128930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Simple confirmation</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Safe first test</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Clear cost/value</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Confidence to continue</a:t>
            </a:r>
            <a:endParaRPr lang="en-US" sz="1060" dirty="0"/>
          </a:p>
        </p:txBody>
      </p:sp>
      <p:sp>
        <p:nvSpPr>
          <p:cNvPr id="21" name="Text 18"/>
          <p:cNvSpPr/>
          <p:nvPr/>
        </p:nvSpPr>
        <p:spPr>
          <a:xfrm>
            <a:off x="566928" y="4133088"/>
            <a:ext cx="11057839" cy="25603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Priority chains</a:t>
            </a:r>
            <a:endParaRPr lang="en-US" sz="1250" dirty="0"/>
          </a:p>
        </p:txBody>
      </p:sp>
      <p:sp>
        <p:nvSpPr>
          <p:cNvPr id="22" name="Shape 19"/>
          <p:cNvSpPr/>
          <p:nvPr/>
        </p:nvSpPr>
        <p:spPr>
          <a:xfrm>
            <a:off x="566928" y="4443984"/>
            <a:ext cx="3533546" cy="420624"/>
          </a:xfrm>
          <a:prstGeom prst="roundRect">
            <a:avLst>
              <a:gd name="adj" fmla="val 17391"/>
            </a:avLst>
          </a:prstGeom>
          <a:solidFill>
            <a:srgbClr val="E3ECF7"/>
          </a:solidFill>
          <a:ln w="12700">
            <a:solidFill>
              <a:srgbClr val="1F3864"/>
            </a:solidFill>
            <a:prstDash val="solid"/>
          </a:ln>
        </p:spPr>
      </p:sp>
      <p:sp>
        <p:nvSpPr>
          <p:cNvPr id="23" name="Text 20"/>
          <p:cNvSpPr/>
          <p:nvPr/>
        </p:nvSpPr>
        <p:spPr>
          <a:xfrm>
            <a:off x="676656"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Continue after assisted setup</a:t>
            </a:r>
            <a:endParaRPr lang="en-US" sz="980" dirty="0"/>
          </a:p>
        </p:txBody>
      </p:sp>
      <p:sp>
        <p:nvSpPr>
          <p:cNvPr id="24" name="Text 21"/>
          <p:cNvSpPr/>
          <p:nvPr/>
        </p:nvSpPr>
        <p:spPr>
          <a:xfrm>
            <a:off x="4118762" y="4462272"/>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25" name="Shape 22"/>
          <p:cNvSpPr/>
          <p:nvPr/>
        </p:nvSpPr>
        <p:spPr>
          <a:xfrm>
            <a:off x="4329074" y="4443984"/>
            <a:ext cx="3533546" cy="420624"/>
          </a:xfrm>
          <a:prstGeom prst="roundRect">
            <a:avLst>
              <a:gd name="adj" fmla="val 17391"/>
            </a:avLst>
          </a:prstGeom>
          <a:solidFill>
            <a:srgbClr val="FDF2F2"/>
          </a:solidFill>
          <a:ln w="12700">
            <a:solidFill>
              <a:srgbClr val="C0504D"/>
            </a:solidFill>
            <a:prstDash val="solid"/>
          </a:ln>
        </p:spPr>
      </p:sp>
      <p:sp>
        <p:nvSpPr>
          <p:cNvPr id="26" name="Text 23"/>
          <p:cNvSpPr/>
          <p:nvPr/>
        </p:nvSpPr>
        <p:spPr>
          <a:xfrm>
            <a:off x="4438802"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help disappears after store</a:t>
            </a:r>
            <a:endParaRPr lang="en-US" sz="980" dirty="0"/>
          </a:p>
        </p:txBody>
      </p:sp>
      <p:sp>
        <p:nvSpPr>
          <p:cNvPr id="27" name="Text 24"/>
          <p:cNvSpPr/>
          <p:nvPr/>
        </p:nvSpPr>
        <p:spPr>
          <a:xfrm>
            <a:off x="7880909" y="4462272"/>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28" name="Shape 25"/>
          <p:cNvSpPr/>
          <p:nvPr/>
        </p:nvSpPr>
        <p:spPr>
          <a:xfrm>
            <a:off x="8091221" y="4443984"/>
            <a:ext cx="3533546" cy="420624"/>
          </a:xfrm>
          <a:prstGeom prst="roundRect">
            <a:avLst>
              <a:gd name="adj" fmla="val 17391"/>
            </a:avLst>
          </a:prstGeom>
          <a:solidFill>
            <a:srgbClr val="EAF6EE"/>
          </a:solidFill>
          <a:ln w="12700">
            <a:solidFill>
              <a:srgbClr val="2E8B57"/>
            </a:solidFill>
            <a:prstDash val="solid"/>
          </a:ln>
        </p:spPr>
      </p:sp>
      <p:sp>
        <p:nvSpPr>
          <p:cNvPr id="29" name="Text 26"/>
          <p:cNvSpPr/>
          <p:nvPr/>
        </p:nvSpPr>
        <p:spPr>
          <a:xfrm>
            <a:off x="8200949" y="4443984"/>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confidence at home</a:t>
            </a:r>
            <a:endParaRPr lang="en-US" sz="980" dirty="0"/>
          </a:p>
        </p:txBody>
      </p:sp>
      <p:sp>
        <p:nvSpPr>
          <p:cNvPr id="30" name="Shape 27"/>
          <p:cNvSpPr/>
          <p:nvPr/>
        </p:nvSpPr>
        <p:spPr>
          <a:xfrm>
            <a:off x="566928" y="4956048"/>
            <a:ext cx="3533546" cy="420624"/>
          </a:xfrm>
          <a:prstGeom prst="roundRect">
            <a:avLst>
              <a:gd name="adj" fmla="val 17391"/>
            </a:avLst>
          </a:prstGeom>
          <a:solidFill>
            <a:srgbClr val="E3ECF7"/>
          </a:solidFill>
          <a:ln w="12700">
            <a:solidFill>
              <a:srgbClr val="1F3864"/>
            </a:solidFill>
            <a:prstDash val="solid"/>
          </a:ln>
        </p:spPr>
      </p:sp>
      <p:sp>
        <p:nvSpPr>
          <p:cNvPr id="31" name="Text 28"/>
          <p:cNvSpPr/>
          <p:nvPr/>
        </p:nvSpPr>
        <p:spPr>
          <a:xfrm>
            <a:off x="676656"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Check balance, data and status</a:t>
            </a:r>
            <a:endParaRPr lang="en-US" sz="980" dirty="0"/>
          </a:p>
        </p:txBody>
      </p:sp>
      <p:sp>
        <p:nvSpPr>
          <p:cNvPr id="32" name="Text 29"/>
          <p:cNvSpPr/>
          <p:nvPr/>
        </p:nvSpPr>
        <p:spPr>
          <a:xfrm>
            <a:off x="4118762" y="4974336"/>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33" name="Shape 30"/>
          <p:cNvSpPr/>
          <p:nvPr/>
        </p:nvSpPr>
        <p:spPr>
          <a:xfrm>
            <a:off x="4329074" y="4956048"/>
            <a:ext cx="3533546" cy="420624"/>
          </a:xfrm>
          <a:prstGeom prst="roundRect">
            <a:avLst>
              <a:gd name="adj" fmla="val 17391"/>
            </a:avLst>
          </a:prstGeom>
          <a:solidFill>
            <a:srgbClr val="FDF2F2"/>
          </a:solidFill>
          <a:ln w="12700">
            <a:solidFill>
              <a:srgbClr val="C0504D"/>
            </a:solidFill>
            <a:prstDash val="solid"/>
          </a:ln>
        </p:spPr>
      </p:sp>
      <p:sp>
        <p:nvSpPr>
          <p:cNvPr id="34" name="Text 31"/>
          <p:cNvSpPr/>
          <p:nvPr/>
        </p:nvSpPr>
        <p:spPr>
          <a:xfrm>
            <a:off x="4438802"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cost and value are unclear</a:t>
            </a:r>
            <a:endParaRPr lang="en-US" sz="980" dirty="0"/>
          </a:p>
        </p:txBody>
      </p:sp>
      <p:sp>
        <p:nvSpPr>
          <p:cNvPr id="35" name="Text 32"/>
          <p:cNvSpPr/>
          <p:nvPr/>
        </p:nvSpPr>
        <p:spPr>
          <a:xfrm>
            <a:off x="7880909" y="4974336"/>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36" name="Shape 33"/>
          <p:cNvSpPr/>
          <p:nvPr/>
        </p:nvSpPr>
        <p:spPr>
          <a:xfrm>
            <a:off x="8091221" y="4956048"/>
            <a:ext cx="3533546" cy="420624"/>
          </a:xfrm>
          <a:prstGeom prst="roundRect">
            <a:avLst>
              <a:gd name="adj" fmla="val 17391"/>
            </a:avLst>
          </a:prstGeom>
          <a:solidFill>
            <a:srgbClr val="EAF6EE"/>
          </a:solidFill>
          <a:ln w="12700">
            <a:solidFill>
              <a:srgbClr val="2E8B57"/>
            </a:solidFill>
            <a:prstDash val="solid"/>
          </a:ln>
        </p:spPr>
      </p:sp>
      <p:sp>
        <p:nvSpPr>
          <p:cNvPr id="37" name="Text 34"/>
          <p:cNvSpPr/>
          <p:nvPr/>
        </p:nvSpPr>
        <p:spPr>
          <a:xfrm>
            <a:off x="8200949" y="4956048"/>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safe confirmation</a:t>
            </a:r>
            <a:endParaRPr lang="en-US" sz="980" dirty="0"/>
          </a:p>
        </p:txBody>
      </p:sp>
      <p:sp>
        <p:nvSpPr>
          <p:cNvPr id="38" name="Shape 35"/>
          <p:cNvSpPr/>
          <p:nvPr/>
        </p:nvSpPr>
        <p:spPr>
          <a:xfrm>
            <a:off x="566928" y="5468112"/>
            <a:ext cx="3533546" cy="420624"/>
          </a:xfrm>
          <a:prstGeom prst="roundRect">
            <a:avLst>
              <a:gd name="adj" fmla="val 17391"/>
            </a:avLst>
          </a:prstGeom>
          <a:solidFill>
            <a:srgbClr val="E3ECF7"/>
          </a:solidFill>
          <a:ln w="12700">
            <a:solidFill>
              <a:srgbClr val="1F3864"/>
            </a:solidFill>
            <a:prstDash val="solid"/>
          </a:ln>
        </p:spPr>
      </p:sp>
      <p:sp>
        <p:nvSpPr>
          <p:cNvPr id="39" name="Text 36"/>
          <p:cNvSpPr/>
          <p:nvPr/>
        </p:nvSpPr>
        <p:spPr>
          <a:xfrm>
            <a:off x="676656"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Job: Support the actual user</a:t>
            </a:r>
            <a:endParaRPr lang="en-US" sz="980" dirty="0"/>
          </a:p>
        </p:txBody>
      </p:sp>
      <p:sp>
        <p:nvSpPr>
          <p:cNvPr id="40" name="Text 37"/>
          <p:cNvSpPr/>
          <p:nvPr/>
        </p:nvSpPr>
        <p:spPr>
          <a:xfrm>
            <a:off x="4118762" y="5486400"/>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41" name="Shape 38"/>
          <p:cNvSpPr/>
          <p:nvPr/>
        </p:nvSpPr>
        <p:spPr>
          <a:xfrm>
            <a:off x="4329074" y="5468112"/>
            <a:ext cx="3533546" cy="420624"/>
          </a:xfrm>
          <a:prstGeom prst="roundRect">
            <a:avLst>
              <a:gd name="adj" fmla="val 17391"/>
            </a:avLst>
          </a:prstGeom>
          <a:solidFill>
            <a:srgbClr val="FDF2F2"/>
          </a:solidFill>
          <a:ln w="12700">
            <a:solidFill>
              <a:srgbClr val="C0504D"/>
            </a:solidFill>
            <a:prstDash val="solid"/>
          </a:ln>
        </p:spPr>
      </p:sp>
      <p:sp>
        <p:nvSpPr>
          <p:cNvPr id="42" name="Text 39"/>
          <p:cNvSpPr/>
          <p:nvPr/>
        </p:nvSpPr>
        <p:spPr>
          <a:xfrm>
            <a:off x="4438802"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Pain: buyer, payer and user differ</a:t>
            </a:r>
            <a:endParaRPr lang="en-US" sz="980" dirty="0"/>
          </a:p>
        </p:txBody>
      </p:sp>
      <p:sp>
        <p:nvSpPr>
          <p:cNvPr id="43" name="Text 40"/>
          <p:cNvSpPr/>
          <p:nvPr/>
        </p:nvSpPr>
        <p:spPr>
          <a:xfrm>
            <a:off x="7880909" y="5486400"/>
            <a:ext cx="182880" cy="384048"/>
          </a:xfrm>
          <a:prstGeom prst="rect">
            <a:avLst/>
          </a:prstGeom>
          <a:noFill/>
          <a:ln/>
        </p:spPr>
        <p:txBody>
          <a:bodyPr wrap="square" lIns="0" tIns="0" rIns="0" bIns="0" rtlCol="0" anchor="ctr"/>
          <a:lstStyle/>
          <a:p>
            <a:pPr algn="ctr" indent="0" marL="0">
              <a:buNone/>
            </a:pPr>
            <a:r>
              <a:rPr lang="en-US" sz="1500" b="1" dirty="0">
                <a:solidFill>
                  <a:srgbClr val="9AA3AF"/>
                </a:solidFill>
                <a:latin typeface="Calibri" pitchFamily="34" charset="0"/>
                <a:ea typeface="Calibri" pitchFamily="34" charset="-122"/>
                <a:cs typeface="Calibri" pitchFamily="34" charset="-120"/>
              </a:rPr>
              <a:t>›</a:t>
            </a:r>
            <a:endParaRPr lang="en-US" sz="1500" dirty="0"/>
          </a:p>
        </p:txBody>
      </p:sp>
      <p:sp>
        <p:nvSpPr>
          <p:cNvPr id="44" name="Shape 41"/>
          <p:cNvSpPr/>
          <p:nvPr/>
        </p:nvSpPr>
        <p:spPr>
          <a:xfrm>
            <a:off x="8091221" y="5468112"/>
            <a:ext cx="3533546" cy="420624"/>
          </a:xfrm>
          <a:prstGeom prst="roundRect">
            <a:avLst>
              <a:gd name="adj" fmla="val 17391"/>
            </a:avLst>
          </a:prstGeom>
          <a:solidFill>
            <a:srgbClr val="EAF6EE"/>
          </a:solidFill>
          <a:ln w="12700">
            <a:solidFill>
              <a:srgbClr val="2E8B57"/>
            </a:solidFill>
            <a:prstDash val="solid"/>
          </a:ln>
        </p:spPr>
      </p:sp>
      <p:sp>
        <p:nvSpPr>
          <p:cNvPr id="45" name="Text 42"/>
          <p:cNvSpPr/>
          <p:nvPr/>
        </p:nvSpPr>
        <p:spPr>
          <a:xfrm>
            <a:off x="8200949" y="5468112"/>
            <a:ext cx="3350666" cy="420624"/>
          </a:xfrm>
          <a:prstGeom prst="rect">
            <a:avLst/>
          </a:prstGeom>
          <a:noFill/>
          <a:ln/>
        </p:spPr>
        <p:txBody>
          <a:bodyPr wrap="square" lIns="0" tIns="0" rIns="0" bIns="0" rtlCol="0" anchor="ctr"/>
          <a:lstStyle/>
          <a:p>
            <a:pPr indent="0" marL="0">
              <a:lnSpc>
                <a:spcPts val="1150"/>
              </a:lnSpc>
              <a:buNone/>
            </a:pPr>
            <a:r>
              <a:rPr lang="en-US" sz="980" dirty="0">
                <a:solidFill>
                  <a:srgbClr val="1F2937"/>
                </a:solidFill>
                <a:latin typeface="Calibri" pitchFamily="34" charset="0"/>
                <a:ea typeface="Calibri" pitchFamily="34" charset="-122"/>
                <a:cs typeface="Calibri" pitchFamily="34" charset="-120"/>
              </a:rPr>
              <a:t>Gain: guidance for who can act</a:t>
            </a:r>
            <a:endParaRPr lang="en-US" sz="980" dirty="0"/>
          </a:p>
        </p:txBody>
      </p:sp>
      <p:sp>
        <p:nvSpPr>
          <p:cNvPr id="46" name="Shape 43"/>
          <p:cNvSpPr/>
          <p:nvPr/>
        </p:nvSpPr>
        <p:spPr>
          <a:xfrm>
            <a:off x="566928" y="6035040"/>
            <a:ext cx="11057839" cy="384048"/>
          </a:xfrm>
          <a:prstGeom prst="roundRect">
            <a:avLst>
              <a:gd name="adj" fmla="val 14286"/>
            </a:avLst>
          </a:prstGeom>
          <a:solidFill>
            <a:srgbClr val="EFF4FB"/>
          </a:solidFill>
          <a:ln w="12700">
            <a:solidFill>
              <a:srgbClr val="2E86AB"/>
            </a:solidFill>
            <a:prstDash val="solid"/>
          </a:ln>
        </p:spPr>
      </p:sp>
      <p:sp>
        <p:nvSpPr>
          <p:cNvPr id="47" name="Text 44"/>
          <p:cNvSpPr/>
          <p:nvPr/>
        </p:nvSpPr>
        <p:spPr>
          <a:xfrm>
            <a:off x="768096" y="6089904"/>
            <a:ext cx="10692079" cy="274320"/>
          </a:xfrm>
          <a:prstGeom prst="rect">
            <a:avLst/>
          </a:prstGeom>
          <a:noFill/>
          <a:ln/>
        </p:spPr>
        <p:txBody>
          <a:bodyPr wrap="square" lIns="0" tIns="0" rIns="0" bIns="0" rtlCol="0" anchor="ctr"/>
          <a:lstStyle/>
          <a:p>
            <a:pPr indent="0" marL="0">
              <a:lnSpc>
                <a:spcPts val="1400"/>
              </a:lnSpc>
              <a:buNone/>
            </a:pPr>
            <a:r>
              <a:rPr lang="en-US" sz="1150" b="1" dirty="0">
                <a:solidFill>
                  <a:srgbClr val="2E86AB"/>
                </a:solidFill>
                <a:latin typeface="Calibri" pitchFamily="34" charset="0"/>
                <a:ea typeface="Calibri" pitchFamily="34" charset="-122"/>
                <a:cs typeface="Calibri" pitchFamily="34" charset="-120"/>
              </a:rPr>
              <a:t>What this tells us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Alya's barrier is not lack of digital interest. It is the loss of confidence once assisted setup ends.   ·   Customer side only. Product, pain relievers and gain creators stay out of Sprint 4.</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256032"/>
          </a:xfrm>
          <a:prstGeom prst="rect">
            <a:avLst/>
          </a:prstGeom>
          <a:noFill/>
          <a:ln/>
        </p:spPr>
        <p:txBody>
          <a:bodyPr wrap="square" lIns="0" tIns="0" rIns="0" bIns="0" rtlCol="0" anchor="ctr"/>
          <a:lstStyle/>
          <a:p>
            <a:pPr indent="0" marL="0">
              <a:buNone/>
            </a:pPr>
            <a:r>
              <a:rPr lang="en-US" sz="1150" b="1" spc="250" kern="0" dirty="0">
                <a:solidFill>
                  <a:srgbClr val="0E8FCF"/>
                </a:solidFill>
                <a:latin typeface="Calibri" pitchFamily="34" charset="0"/>
                <a:ea typeface="Calibri" pitchFamily="34" charset="-122"/>
                <a:cs typeface="Calibri" pitchFamily="34" charset="-120"/>
              </a:rPr>
              <a:t>SYNTHESIS</a:t>
            </a:r>
            <a:endParaRPr lang="en-US" sz="1150" dirty="0"/>
          </a:p>
        </p:txBody>
      </p:sp>
      <p:sp>
        <p:nvSpPr>
          <p:cNvPr id="3" name="Text 1"/>
          <p:cNvSpPr/>
          <p:nvPr/>
        </p:nvSpPr>
        <p:spPr>
          <a:xfrm>
            <a:off x="566928" y="640080"/>
            <a:ext cx="11057839" cy="621792"/>
          </a:xfrm>
          <a:prstGeom prst="rect">
            <a:avLst/>
          </a:prstGeom>
          <a:noFill/>
          <a:ln/>
        </p:spPr>
        <p:txBody>
          <a:bodyPr wrap="square" lIns="0" tIns="0" rIns="0" bIns="0" rtlCol="0" anchor="t"/>
          <a:lstStyle/>
          <a:p>
            <a:pPr indent="0" marL="0">
              <a:lnSpc>
                <a:spcPts val="2800"/>
              </a:lnSpc>
              <a:buNone/>
            </a:pPr>
            <a:r>
              <a:rPr lang="en-US" sz="2500" b="1" dirty="0">
                <a:solidFill>
                  <a:srgbClr val="1F3864"/>
                </a:solidFill>
                <a:latin typeface="Calibri" pitchFamily="34" charset="0"/>
                <a:ea typeface="Calibri" pitchFamily="34" charset="-122"/>
                <a:cs typeface="Calibri" pitchFamily="34" charset="-120"/>
              </a:rPr>
              <a:t>What we know. What we still need to test.</a:t>
            </a:r>
            <a:endParaRPr lang="en-US" sz="2500" dirty="0"/>
          </a:p>
        </p:txBody>
      </p:sp>
      <p:sp>
        <p:nvSpPr>
          <p:cNvPr id="4" name="Shape 2"/>
          <p:cNvSpPr/>
          <p:nvPr/>
        </p:nvSpPr>
        <p:spPr>
          <a:xfrm>
            <a:off x="566928" y="1261872"/>
            <a:ext cx="777240" cy="45720"/>
          </a:xfrm>
          <a:prstGeom prst="rect">
            <a:avLst/>
          </a:prstGeom>
          <a:solidFill>
            <a:srgbClr val="0E8FCF"/>
          </a:solidFill>
          <a:ln/>
        </p:spPr>
      </p:sp>
      <p:sp>
        <p:nvSpPr>
          <p:cNvPr id="5" name="Text 3"/>
          <p:cNvSpPr/>
          <p:nvPr/>
        </p:nvSpPr>
        <p:spPr>
          <a:xfrm>
            <a:off x="566928" y="1389888"/>
            <a:ext cx="11057839" cy="256032"/>
          </a:xfrm>
          <a:prstGeom prst="rect">
            <a:avLst/>
          </a:prstGeom>
          <a:noFill/>
          <a:ln/>
        </p:spPr>
        <p:txBody>
          <a:bodyPr wrap="square" lIns="0" tIns="0" rIns="0" bIns="0" rtlCol="0" anchor="ctr"/>
          <a:lstStyle/>
          <a:p>
            <a:pPr indent="0" marL="0">
              <a:buNone/>
            </a:pPr>
            <a:r>
              <a:rPr lang="en-US" sz="1150" i="1" dirty="0">
                <a:solidFill>
                  <a:srgbClr val="6B7280"/>
                </a:solidFill>
                <a:latin typeface="Calibri" pitchFamily="34" charset="0"/>
                <a:ea typeface="Calibri" pitchFamily="34" charset="-122"/>
                <a:cs typeface="Calibri" pitchFamily="34" charset="-120"/>
              </a:rPr>
              <a:t>Sprint 4 makes the customer problem clearer while keeping the solution open.</a:t>
            </a:r>
            <a:endParaRPr lang="en-US" sz="1150" dirty="0"/>
          </a:p>
        </p:txBody>
      </p:sp>
      <p:sp>
        <p:nvSpPr>
          <p:cNvPr id="6" name="Text 4"/>
          <p:cNvSpPr/>
          <p:nvPr/>
        </p:nvSpPr>
        <p:spPr>
          <a:xfrm>
            <a:off x="566928" y="6464808"/>
            <a:ext cx="10058400" cy="237744"/>
          </a:xfrm>
          <a:prstGeom prst="rect">
            <a:avLst/>
          </a:prstGeom>
          <a:noFill/>
          <a:ln/>
        </p:spPr>
        <p:txBody>
          <a:bodyPr wrap="square" lIns="0" tIns="0" rIns="0" bIns="0" rtlCol="0" anchor="ctr"/>
          <a:lstStyle/>
          <a:p>
            <a:pPr indent="0" marL="0">
              <a:buNone/>
            </a:pPr>
            <a:r>
              <a:rPr lang="en-US" sz="900" b="1" dirty="0">
                <a:solidFill>
                  <a:srgbClr val="1F3864"/>
                </a:solidFill>
                <a:latin typeface="Calibri" pitchFamily="34" charset="0"/>
                <a:ea typeface="Calibri" pitchFamily="34" charset="-122"/>
                <a:cs typeface="Calibri" pitchFamily="34" charset="-120"/>
              </a:rPr>
              <a:t>TEAM UNITY</a:t>
            </a:r>
            <a:pPr indent="0" marL="0">
              <a:buNone/>
            </a:pPr>
            <a:r>
              <a:rPr lang="en-US" sz="900" dirty="0">
                <a:solidFill>
                  <a:srgbClr val="6B7280"/>
                </a:solidFill>
                <a:latin typeface="Calibri" pitchFamily="34" charset="0"/>
                <a:ea typeface="Calibri" pitchFamily="34" charset="-122"/>
                <a:cs typeface="Calibri" pitchFamily="34" charset="-120"/>
              </a:rPr>
              <a:t>   ·   Sprint 4 · 4.3 VPC Circle</a:t>
            </a:r>
            <a:endParaRPr lang="en-US" sz="900" dirty="0"/>
          </a:p>
        </p:txBody>
      </p:sp>
      <p:sp>
        <p:nvSpPr>
          <p:cNvPr id="7" name="Text 5"/>
          <p:cNvSpPr/>
          <p:nvPr/>
        </p:nvSpPr>
        <p:spPr>
          <a:xfrm>
            <a:off x="11140135" y="6464808"/>
            <a:ext cx="548640" cy="237744"/>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4</a:t>
            </a:r>
            <a:endParaRPr lang="en-US" sz="900" dirty="0"/>
          </a:p>
        </p:txBody>
      </p:sp>
      <p:sp>
        <p:nvSpPr>
          <p:cNvPr id="8" name="Shape 6"/>
          <p:cNvSpPr/>
          <p:nvPr/>
        </p:nvSpPr>
        <p:spPr>
          <a:xfrm>
            <a:off x="566928" y="1828800"/>
            <a:ext cx="3490874" cy="2286000"/>
          </a:xfrm>
          <a:prstGeom prst="roundRect">
            <a:avLst>
              <a:gd name="adj" fmla="val 2400"/>
            </a:avLst>
          </a:prstGeom>
          <a:solidFill>
            <a:srgbClr val="EAF6EE"/>
          </a:solidFill>
          <a:ln w="12700">
            <a:solidFill>
              <a:srgbClr val="CBD8EA"/>
            </a:solidFill>
            <a:prstDash val="solid"/>
          </a:ln>
        </p:spPr>
      </p:sp>
      <p:sp>
        <p:nvSpPr>
          <p:cNvPr id="9" name="Shape 7"/>
          <p:cNvSpPr/>
          <p:nvPr/>
        </p:nvSpPr>
        <p:spPr>
          <a:xfrm>
            <a:off x="566928" y="1828800"/>
            <a:ext cx="64008" cy="2286000"/>
          </a:xfrm>
          <a:prstGeom prst="rect">
            <a:avLst/>
          </a:prstGeom>
          <a:solidFill>
            <a:srgbClr val="2E8B57"/>
          </a:solidFill>
          <a:ln/>
        </p:spPr>
      </p:sp>
      <p:sp>
        <p:nvSpPr>
          <p:cNvPr id="10" name="Text 8"/>
          <p:cNvSpPr/>
          <p:nvPr/>
        </p:nvSpPr>
        <p:spPr>
          <a:xfrm>
            <a:off x="768096" y="1920240"/>
            <a:ext cx="3161690"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Strong within this sample</a:t>
            </a:r>
            <a:endParaRPr lang="en-US" sz="1250" dirty="0"/>
          </a:p>
        </p:txBody>
      </p:sp>
      <p:sp>
        <p:nvSpPr>
          <p:cNvPr id="11" name="Text 9"/>
          <p:cNvSpPr/>
          <p:nvPr/>
        </p:nvSpPr>
        <p:spPr>
          <a:xfrm>
            <a:off x="804672" y="2231136"/>
            <a:ext cx="3088538" cy="179222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Readiness is defined through meaningful tasks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Alternatives reduce urgency to seek help</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Low usage can represent different causes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Clear readiness can protect adoption</a:t>
            </a:r>
            <a:endParaRPr lang="en-US" sz="1060" dirty="0"/>
          </a:p>
        </p:txBody>
      </p:sp>
      <p:sp>
        <p:nvSpPr>
          <p:cNvPr id="12" name="Shape 10"/>
          <p:cNvSpPr/>
          <p:nvPr/>
        </p:nvSpPr>
        <p:spPr>
          <a:xfrm>
            <a:off x="4350410" y="1828800"/>
            <a:ext cx="3490874" cy="2286000"/>
          </a:xfrm>
          <a:prstGeom prst="roundRect">
            <a:avLst>
              <a:gd name="adj" fmla="val 2400"/>
            </a:avLst>
          </a:prstGeom>
          <a:solidFill>
            <a:srgbClr val="FFF8EA"/>
          </a:solidFill>
          <a:ln w="12700">
            <a:solidFill>
              <a:srgbClr val="CBD8EA"/>
            </a:solidFill>
            <a:prstDash val="solid"/>
          </a:ln>
        </p:spPr>
      </p:sp>
      <p:sp>
        <p:nvSpPr>
          <p:cNvPr id="13" name="Shape 11"/>
          <p:cNvSpPr/>
          <p:nvPr/>
        </p:nvSpPr>
        <p:spPr>
          <a:xfrm>
            <a:off x="4350410" y="1828800"/>
            <a:ext cx="64008" cy="2286000"/>
          </a:xfrm>
          <a:prstGeom prst="rect">
            <a:avLst/>
          </a:prstGeom>
          <a:solidFill>
            <a:srgbClr val="C8881A"/>
          </a:solidFill>
          <a:ln/>
        </p:spPr>
      </p:sp>
      <p:sp>
        <p:nvSpPr>
          <p:cNvPr id="14" name="Text 12"/>
          <p:cNvSpPr/>
          <p:nvPr/>
        </p:nvSpPr>
        <p:spPr>
          <a:xfrm>
            <a:off x="4551578" y="1920240"/>
            <a:ext cx="3161690"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Working hypotheses</a:t>
            </a:r>
            <a:endParaRPr lang="en-US" sz="1250" dirty="0"/>
          </a:p>
        </p:txBody>
      </p:sp>
      <p:sp>
        <p:nvSpPr>
          <p:cNvPr id="15" name="Text 13"/>
          <p:cNvSpPr/>
          <p:nvPr/>
        </p:nvSpPr>
        <p:spPr>
          <a:xfrm>
            <a:off x="4588154" y="2231136"/>
            <a:ext cx="3088538" cy="179222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Majed should remain the priority archetype</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Alya represents a distinct post-handover pattern</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Task/context information may improve signal interpretation</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S3 and S4 should remain boundary evidence</a:t>
            </a:r>
            <a:endParaRPr lang="en-US" sz="1060" dirty="0"/>
          </a:p>
        </p:txBody>
      </p:sp>
      <p:sp>
        <p:nvSpPr>
          <p:cNvPr id="16" name="Shape 14"/>
          <p:cNvSpPr/>
          <p:nvPr/>
        </p:nvSpPr>
        <p:spPr>
          <a:xfrm>
            <a:off x="8133893" y="1828800"/>
            <a:ext cx="3490874" cy="2286000"/>
          </a:xfrm>
          <a:prstGeom prst="roundRect">
            <a:avLst>
              <a:gd name="adj" fmla="val 2400"/>
            </a:avLst>
          </a:prstGeom>
          <a:solidFill>
            <a:srgbClr val="FDF2F2"/>
          </a:solidFill>
          <a:ln w="12700">
            <a:solidFill>
              <a:srgbClr val="CBD8EA"/>
            </a:solidFill>
            <a:prstDash val="solid"/>
          </a:ln>
        </p:spPr>
      </p:sp>
      <p:sp>
        <p:nvSpPr>
          <p:cNvPr id="17" name="Shape 15"/>
          <p:cNvSpPr/>
          <p:nvPr/>
        </p:nvSpPr>
        <p:spPr>
          <a:xfrm>
            <a:off x="8133893" y="1828800"/>
            <a:ext cx="64008" cy="2286000"/>
          </a:xfrm>
          <a:prstGeom prst="rect">
            <a:avLst/>
          </a:prstGeom>
          <a:solidFill>
            <a:srgbClr val="C0504D"/>
          </a:solidFill>
          <a:ln/>
        </p:spPr>
      </p:sp>
      <p:sp>
        <p:nvSpPr>
          <p:cNvPr id="18" name="Text 16"/>
          <p:cNvSpPr/>
          <p:nvPr/>
        </p:nvSpPr>
        <p:spPr>
          <a:xfrm>
            <a:off x="8335061" y="1920240"/>
            <a:ext cx="3161690" cy="292608"/>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Still unproven</a:t>
            </a:r>
            <a:endParaRPr lang="en-US" sz="1250" dirty="0"/>
          </a:p>
        </p:txBody>
      </p:sp>
      <p:sp>
        <p:nvSpPr>
          <p:cNvPr id="19" name="Text 17"/>
          <p:cNvSpPr/>
          <p:nvPr/>
        </p:nvSpPr>
        <p:spPr>
          <a:xfrm>
            <a:off x="8371637" y="2231136"/>
            <a:ext cx="3088538" cy="1792224"/>
          </a:xfrm>
          <a:prstGeom prst="rect">
            <a:avLst/>
          </a:prstGeom>
          <a:noFill/>
          <a:ln/>
        </p:spPr>
        <p:txBody>
          <a:bodyPr wrap="square" lIns="0" tIns="0" rIns="0" bIns="0" rtlCol="0" anchor="t"/>
          <a:lstStyle/>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Persona prevalence in any OpCo</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Predictive signal thresholds</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Final pilot OpCo</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ROI and operational capacity</a:t>
            </a:r>
            <a:endParaRPr lang="en-US" sz="1060" dirty="0"/>
          </a:p>
          <a:p>
            <a:pPr marL="101600" indent="-101600">
              <a:lnSpc>
                <a:spcPts val="1360"/>
              </a:lnSpc>
              <a:spcAft>
                <a:spcPts val="300"/>
              </a:spcAft>
              <a:buSzPct val="100000"/>
              <a:buChar char="•"/>
            </a:pPr>
            <a:r>
              <a:rPr lang="en-US" sz="1060" dirty="0">
                <a:solidFill>
                  <a:srgbClr val="1F2937"/>
                </a:solidFill>
                <a:latin typeface="Calibri" pitchFamily="34" charset="0"/>
                <a:ea typeface="Calibri" pitchFamily="34" charset="-122"/>
                <a:cs typeface="Calibri" pitchFamily="34" charset="-120"/>
              </a:rPr>
              <a:t>Optimal solution design</a:t>
            </a:r>
            <a:endParaRPr lang="en-US" sz="1060" dirty="0"/>
          </a:p>
        </p:txBody>
      </p:sp>
      <p:sp>
        <p:nvSpPr>
          <p:cNvPr id="20" name="Shape 18"/>
          <p:cNvSpPr/>
          <p:nvPr/>
        </p:nvSpPr>
        <p:spPr>
          <a:xfrm>
            <a:off x="566928" y="4343400"/>
            <a:ext cx="11057839" cy="566928"/>
          </a:xfrm>
          <a:prstGeom prst="roundRect">
            <a:avLst>
              <a:gd name="adj" fmla="val 9677"/>
            </a:avLst>
          </a:prstGeom>
          <a:solidFill>
            <a:srgbClr val="FFFFFF"/>
          </a:solidFill>
          <a:ln w="12700">
            <a:solidFill>
              <a:srgbClr val="8E5BA6"/>
            </a:solidFill>
            <a:prstDash val="solid"/>
          </a:ln>
        </p:spPr>
      </p:sp>
      <p:sp>
        <p:nvSpPr>
          <p:cNvPr id="21" name="Text 19"/>
          <p:cNvSpPr/>
          <p:nvPr/>
        </p:nvSpPr>
        <p:spPr>
          <a:xfrm>
            <a:off x="768096" y="4398264"/>
            <a:ext cx="10692079" cy="457200"/>
          </a:xfrm>
          <a:prstGeom prst="rect">
            <a:avLst/>
          </a:prstGeom>
          <a:noFill/>
          <a:ln/>
        </p:spPr>
        <p:txBody>
          <a:bodyPr wrap="square" lIns="0" tIns="0" rIns="0" bIns="0" rtlCol="0" anchor="ctr"/>
          <a:lstStyle/>
          <a:p>
            <a:pPr indent="0" marL="0">
              <a:lnSpc>
                <a:spcPts val="1400"/>
              </a:lnSpc>
              <a:buNone/>
            </a:pPr>
            <a:r>
              <a:rPr lang="en-US" sz="1150" b="1" dirty="0">
                <a:solidFill>
                  <a:srgbClr val="8E5BA6"/>
                </a:solidFill>
                <a:latin typeface="Calibri" pitchFamily="34" charset="0"/>
                <a:ea typeface="Calibri" pitchFamily="34" charset="-122"/>
                <a:cs typeface="Calibri" pitchFamily="34" charset="-120"/>
              </a:rPr>
              <a:t>Carry-forward hypotheses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Pilot OpCo selection and Tamam/Bede signal value remain unresolved from Sprint 3. They should be tested later instead of treated as proven triggers.</a:t>
            </a:r>
            <a:endParaRPr lang="en-US" sz="1150" dirty="0"/>
          </a:p>
        </p:txBody>
      </p:sp>
      <p:sp>
        <p:nvSpPr>
          <p:cNvPr id="22" name="Shape 20"/>
          <p:cNvSpPr/>
          <p:nvPr/>
        </p:nvSpPr>
        <p:spPr>
          <a:xfrm>
            <a:off x="566928" y="5029200"/>
            <a:ext cx="11057839" cy="566928"/>
          </a:xfrm>
          <a:prstGeom prst="roundRect">
            <a:avLst>
              <a:gd name="adj" fmla="val 9677"/>
            </a:avLst>
          </a:prstGeom>
          <a:solidFill>
            <a:srgbClr val="E3ECF7"/>
          </a:solidFill>
          <a:ln w="12700">
            <a:solidFill>
              <a:srgbClr val="1F3864"/>
            </a:solidFill>
            <a:prstDash val="solid"/>
          </a:ln>
        </p:spPr>
      </p:sp>
      <p:sp>
        <p:nvSpPr>
          <p:cNvPr id="23" name="Text 21"/>
          <p:cNvSpPr/>
          <p:nvPr/>
        </p:nvSpPr>
        <p:spPr>
          <a:xfrm>
            <a:off x="768096" y="5084064"/>
            <a:ext cx="10692079" cy="457200"/>
          </a:xfrm>
          <a:prstGeom prst="rect">
            <a:avLst/>
          </a:prstGeom>
          <a:noFill/>
          <a:ln/>
        </p:spPr>
        <p:txBody>
          <a:bodyPr wrap="square" lIns="0" tIns="0" rIns="0" bIns="0" rtlCol="0" anchor="ctr"/>
          <a:lstStyle/>
          <a:p>
            <a:pPr indent="0" marL="0">
              <a:lnSpc>
                <a:spcPts val="1400"/>
              </a:lnSpc>
              <a:buNone/>
            </a:pPr>
            <a:r>
              <a:rPr lang="en-US" sz="1150" b="1" dirty="0">
                <a:solidFill>
                  <a:srgbClr val="1F3864"/>
                </a:solidFill>
                <a:latin typeface="Calibri" pitchFamily="34" charset="0"/>
                <a:ea typeface="Calibri" pitchFamily="34" charset="-122"/>
                <a:cs typeface="Calibri" pitchFamily="34" charset="-120"/>
              </a:rPr>
              <a:t>Sprint 4 conclusion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A new line is adopted when the customer can confidently complete the task that made it worth acquiring. The problem is not low usage by itself. The problem is unresolved first-value uncertainty, interpreted in context.</a:t>
            </a:r>
            <a:endParaRPr lang="en-US" sz="1150" dirty="0"/>
          </a:p>
        </p:txBody>
      </p:sp>
      <p:sp>
        <p:nvSpPr>
          <p:cNvPr id="24" name="Shape 22"/>
          <p:cNvSpPr/>
          <p:nvPr/>
        </p:nvSpPr>
        <p:spPr>
          <a:xfrm>
            <a:off x="566928" y="5715000"/>
            <a:ext cx="11057839" cy="566928"/>
          </a:xfrm>
          <a:prstGeom prst="roundRect">
            <a:avLst>
              <a:gd name="adj" fmla="val 9677"/>
            </a:avLst>
          </a:prstGeom>
          <a:solidFill>
            <a:srgbClr val="EAF6EE"/>
          </a:solidFill>
          <a:ln w="12700">
            <a:solidFill>
              <a:srgbClr val="2E8B57"/>
            </a:solidFill>
            <a:prstDash val="solid"/>
          </a:ln>
        </p:spPr>
      </p:sp>
      <p:sp>
        <p:nvSpPr>
          <p:cNvPr id="25" name="Text 23"/>
          <p:cNvSpPr/>
          <p:nvPr/>
        </p:nvSpPr>
        <p:spPr>
          <a:xfrm>
            <a:off x="768096" y="5769864"/>
            <a:ext cx="10692079" cy="457200"/>
          </a:xfrm>
          <a:prstGeom prst="rect">
            <a:avLst/>
          </a:prstGeom>
          <a:noFill/>
          <a:ln/>
        </p:spPr>
        <p:txBody>
          <a:bodyPr wrap="square" lIns="0" tIns="0" rIns="0" bIns="0" rtlCol="0" anchor="ctr"/>
          <a:lstStyle/>
          <a:p>
            <a:pPr indent="0" marL="0">
              <a:lnSpc>
                <a:spcPts val="1400"/>
              </a:lnSpc>
              <a:buNone/>
            </a:pPr>
            <a:r>
              <a:rPr lang="en-US" sz="1150" b="1" dirty="0">
                <a:solidFill>
                  <a:srgbClr val="2E8B57"/>
                </a:solidFill>
                <a:latin typeface="Calibri" pitchFamily="34" charset="0"/>
                <a:ea typeface="Calibri" pitchFamily="34" charset="-122"/>
                <a:cs typeface="Calibri" pitchFamily="34" charset="-120"/>
              </a:rPr>
              <a:t>Ready for Sprint 5   </a:t>
            </a:r>
            <a:pPr indent="0" marL="0">
              <a:lnSpc>
                <a:spcPts val="1400"/>
              </a:lnSpc>
              <a:buNone/>
            </a:pPr>
            <a:r>
              <a:rPr lang="en-US" sz="1100" dirty="0">
                <a:solidFill>
                  <a:srgbClr val="1F2937"/>
                </a:solidFill>
                <a:latin typeface="Calibri" pitchFamily="34" charset="0"/>
                <a:ea typeface="Calibri" pitchFamily="34" charset="-122"/>
                <a:cs typeface="Calibri" pitchFamily="34" charset="-120"/>
              </a:rPr>
              <a:t>The value proposition can now be designed around clear customer progress, not around a generic low-usage signal.</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VPC Circle — Deliverable 4.3</dc:title>
  <dc:subject>PptxGenJS Presentation</dc:subject>
  <dc:creator>Team Unity</dc:creator>
  <cp:lastModifiedBy>Team Unity</cp:lastModifiedBy>
  <cp:revision>1</cp:revision>
  <dcterms:created xsi:type="dcterms:W3CDTF">2026-09-08T13:26:29Z</dcterms:created>
  <dcterms:modified xsi:type="dcterms:W3CDTF">2026-09-08T13:26:29Z</dcterms:modified>
</cp:coreProperties>
</file>